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18"/>
  </p:notesMasterIdLst>
  <p:handoutMasterIdLst>
    <p:handoutMasterId r:id="rId19"/>
  </p:handoutMasterIdLst>
  <p:sldIdLst>
    <p:sldId id="271" r:id="rId5"/>
    <p:sldId id="257" r:id="rId6"/>
    <p:sldId id="258" r:id="rId7"/>
    <p:sldId id="259" r:id="rId8"/>
    <p:sldId id="262" r:id="rId9"/>
    <p:sldId id="261" r:id="rId10"/>
    <p:sldId id="263" r:id="rId11"/>
    <p:sldId id="265" r:id="rId12"/>
    <p:sldId id="266" r:id="rId13"/>
    <p:sldId id="268" r:id="rId14"/>
    <p:sldId id="269" r:id="rId15"/>
    <p:sldId id="272" r:id="rId16"/>
    <p:sldId id="270" r:id="rId17"/>
  </p:sldIdLst>
  <p:sldSz cx="9144000" cy="6858000" type="screen4x3"/>
  <p:notesSz cx="6997700" cy="9271000"/>
  <p:defaultTextStyle>
    <a:defPPr>
      <a:defRPr lang="en-US"/>
    </a:defPPr>
    <a:lvl1pPr algn="ctr" rtl="0" eaLnBrk="0" fontAlgn="base" hangingPunct="0">
      <a:spcBef>
        <a:spcPct val="0"/>
      </a:spcBef>
      <a:spcAft>
        <a:spcPct val="0"/>
      </a:spcAft>
      <a:defRPr sz="1400" kern="1200">
        <a:solidFill>
          <a:schemeClr val="tx1"/>
        </a:solidFill>
        <a:latin typeface="Arial" charset="0"/>
        <a:ea typeface="+mn-ea"/>
        <a:cs typeface="+mn-cs"/>
      </a:defRPr>
    </a:lvl1pPr>
    <a:lvl2pPr marL="457200" algn="ctr" rtl="0" eaLnBrk="0" fontAlgn="base" hangingPunct="0">
      <a:spcBef>
        <a:spcPct val="0"/>
      </a:spcBef>
      <a:spcAft>
        <a:spcPct val="0"/>
      </a:spcAft>
      <a:defRPr sz="1400" kern="1200">
        <a:solidFill>
          <a:schemeClr val="tx1"/>
        </a:solidFill>
        <a:latin typeface="Arial" charset="0"/>
        <a:ea typeface="+mn-ea"/>
        <a:cs typeface="+mn-cs"/>
      </a:defRPr>
    </a:lvl2pPr>
    <a:lvl3pPr marL="914400" algn="ctr" rtl="0" eaLnBrk="0" fontAlgn="base" hangingPunct="0">
      <a:spcBef>
        <a:spcPct val="0"/>
      </a:spcBef>
      <a:spcAft>
        <a:spcPct val="0"/>
      </a:spcAft>
      <a:defRPr sz="1400" kern="1200">
        <a:solidFill>
          <a:schemeClr val="tx1"/>
        </a:solidFill>
        <a:latin typeface="Arial" charset="0"/>
        <a:ea typeface="+mn-ea"/>
        <a:cs typeface="+mn-cs"/>
      </a:defRPr>
    </a:lvl3pPr>
    <a:lvl4pPr marL="1371600" algn="ctr" rtl="0" eaLnBrk="0" fontAlgn="base" hangingPunct="0">
      <a:spcBef>
        <a:spcPct val="0"/>
      </a:spcBef>
      <a:spcAft>
        <a:spcPct val="0"/>
      </a:spcAft>
      <a:defRPr sz="1400" kern="1200">
        <a:solidFill>
          <a:schemeClr val="tx1"/>
        </a:solidFill>
        <a:latin typeface="Arial" charset="0"/>
        <a:ea typeface="+mn-ea"/>
        <a:cs typeface="+mn-cs"/>
      </a:defRPr>
    </a:lvl4pPr>
    <a:lvl5pPr marL="1828800" algn="ctr" rtl="0" eaLnBrk="0" fontAlgn="base" hangingPunct="0">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1">
          <p15:clr>
            <a:srgbClr val="A4A3A4"/>
          </p15:clr>
        </p15:guide>
        <p15:guide id="2" pos="22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000000"/>
    <a:srgbClr val="FF9900"/>
    <a:srgbClr val="0C2D83"/>
    <a:srgbClr val="66CCFF"/>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052D4D-0197-4A20-8711-A4148147650B}" v="1" dt="2024-12-20T21:47:13.2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8" autoAdjust="0"/>
    <p:restoredTop sz="90909" autoAdjust="0"/>
  </p:normalViewPr>
  <p:slideViewPr>
    <p:cSldViewPr snapToGrid="0">
      <p:cViewPr varScale="1">
        <p:scale>
          <a:sx n="115" d="100"/>
          <a:sy n="115" d="100"/>
        </p:scale>
        <p:origin x="1368"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6" d="100"/>
          <a:sy n="76" d="100"/>
        </p:scale>
        <p:origin x="-1854" y="-96"/>
      </p:cViewPr>
      <p:guideLst>
        <p:guide orient="horz" pos="2921"/>
        <p:guide pos="22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gers, Neil G CIV USAF USAFA DF/DFEC" userId="0395d458-0a93-4f9d-b15c-0e98da846b2b" providerId="ADAL" clId="{1A052D4D-0197-4A20-8711-A4148147650B}"/>
    <pc:docChg chg="undo custSel addSld delSld modSld">
      <pc:chgData name="Rogers, Neil G CIV USAF USAFA DF/DFEC" userId="0395d458-0a93-4f9d-b15c-0e98da846b2b" providerId="ADAL" clId="{1A052D4D-0197-4A20-8711-A4148147650B}" dt="2024-12-20T21:59:56.413" v="1388" actId="20577"/>
      <pc:docMkLst>
        <pc:docMk/>
      </pc:docMkLst>
      <pc:sldChg chg="modSp mod">
        <pc:chgData name="Rogers, Neil G CIV USAF USAFA DF/DFEC" userId="0395d458-0a93-4f9d-b15c-0e98da846b2b" providerId="ADAL" clId="{1A052D4D-0197-4A20-8711-A4148147650B}" dt="2024-12-20T21:42:02.783" v="87" actId="20577"/>
        <pc:sldMkLst>
          <pc:docMk/>
          <pc:sldMk cId="0" sldId="257"/>
        </pc:sldMkLst>
        <pc:spChg chg="mod">
          <ac:chgData name="Rogers, Neil G CIV USAF USAFA DF/DFEC" userId="0395d458-0a93-4f9d-b15c-0e98da846b2b" providerId="ADAL" clId="{1A052D4D-0197-4A20-8711-A4148147650B}" dt="2024-12-20T21:42:02.783" v="87" actId="20577"/>
          <ac:spMkLst>
            <pc:docMk/>
            <pc:sldMk cId="0" sldId="257"/>
            <ac:spMk id="2052" creationId="{00000000-0000-0000-0000-000000000000}"/>
          </ac:spMkLst>
        </pc:spChg>
      </pc:sldChg>
      <pc:sldChg chg="modSp mod">
        <pc:chgData name="Rogers, Neil G CIV USAF USAFA DF/DFEC" userId="0395d458-0a93-4f9d-b15c-0e98da846b2b" providerId="ADAL" clId="{1A052D4D-0197-4A20-8711-A4148147650B}" dt="2024-12-20T21:42:21.535" v="88" actId="20577"/>
        <pc:sldMkLst>
          <pc:docMk/>
          <pc:sldMk cId="0" sldId="258"/>
        </pc:sldMkLst>
        <pc:spChg chg="mod">
          <ac:chgData name="Rogers, Neil G CIV USAF USAFA DF/DFEC" userId="0395d458-0a93-4f9d-b15c-0e98da846b2b" providerId="ADAL" clId="{1A052D4D-0197-4A20-8711-A4148147650B}" dt="2024-12-20T21:42:21.535" v="88" actId="20577"/>
          <ac:spMkLst>
            <pc:docMk/>
            <pc:sldMk cId="0" sldId="258"/>
            <ac:spMk id="3076" creationId="{00000000-0000-0000-0000-000000000000}"/>
          </ac:spMkLst>
        </pc:spChg>
      </pc:sldChg>
      <pc:sldChg chg="modSp mod">
        <pc:chgData name="Rogers, Neil G CIV USAF USAFA DF/DFEC" userId="0395d458-0a93-4f9d-b15c-0e98da846b2b" providerId="ADAL" clId="{1A052D4D-0197-4A20-8711-A4148147650B}" dt="2024-12-20T21:42:27.890" v="91" actId="20577"/>
        <pc:sldMkLst>
          <pc:docMk/>
          <pc:sldMk cId="0" sldId="259"/>
        </pc:sldMkLst>
        <pc:spChg chg="mod">
          <ac:chgData name="Rogers, Neil G CIV USAF USAFA DF/DFEC" userId="0395d458-0a93-4f9d-b15c-0e98da846b2b" providerId="ADAL" clId="{1A052D4D-0197-4A20-8711-A4148147650B}" dt="2024-12-20T21:42:27.890" v="91" actId="20577"/>
          <ac:spMkLst>
            <pc:docMk/>
            <pc:sldMk cId="0" sldId="259"/>
            <ac:spMk id="4100" creationId="{00000000-0000-0000-0000-000000000000}"/>
          </ac:spMkLst>
        </pc:spChg>
      </pc:sldChg>
      <pc:sldChg chg="modSp mod">
        <pc:chgData name="Rogers, Neil G CIV USAF USAFA DF/DFEC" userId="0395d458-0a93-4f9d-b15c-0e98da846b2b" providerId="ADAL" clId="{1A052D4D-0197-4A20-8711-A4148147650B}" dt="2024-12-20T21:44:03.265" v="116" actId="14100"/>
        <pc:sldMkLst>
          <pc:docMk/>
          <pc:sldMk cId="0" sldId="261"/>
        </pc:sldMkLst>
        <pc:graphicFrameChg chg="mod modGraphic">
          <ac:chgData name="Rogers, Neil G CIV USAF USAFA DF/DFEC" userId="0395d458-0a93-4f9d-b15c-0e98da846b2b" providerId="ADAL" clId="{1A052D4D-0197-4A20-8711-A4148147650B}" dt="2024-12-20T21:44:03.265" v="116" actId="14100"/>
          <ac:graphicFrameMkLst>
            <pc:docMk/>
            <pc:sldMk cId="0" sldId="261"/>
            <ac:graphicFrameMk id="48265" creationId="{00000000-0000-0000-0000-000000000000}"/>
          </ac:graphicFrameMkLst>
        </pc:graphicFrameChg>
      </pc:sldChg>
      <pc:sldChg chg="modSp mod">
        <pc:chgData name="Rogers, Neil G CIV USAF USAFA DF/DFEC" userId="0395d458-0a93-4f9d-b15c-0e98da846b2b" providerId="ADAL" clId="{1A052D4D-0197-4A20-8711-A4148147650B}" dt="2024-12-20T21:43:18.147" v="105" actId="2165"/>
        <pc:sldMkLst>
          <pc:docMk/>
          <pc:sldMk cId="0" sldId="262"/>
        </pc:sldMkLst>
        <pc:graphicFrameChg chg="modGraphic">
          <ac:chgData name="Rogers, Neil G CIV USAF USAFA DF/DFEC" userId="0395d458-0a93-4f9d-b15c-0e98da846b2b" providerId="ADAL" clId="{1A052D4D-0197-4A20-8711-A4148147650B}" dt="2024-12-20T21:43:18.147" v="105" actId="2165"/>
          <ac:graphicFrameMkLst>
            <pc:docMk/>
            <pc:sldMk cId="0" sldId="262"/>
            <ac:graphicFrameMk id="6243" creationId="{00000000-0000-0000-0000-000000000000}"/>
          </ac:graphicFrameMkLst>
        </pc:graphicFrameChg>
      </pc:sldChg>
      <pc:sldChg chg="modSp mod">
        <pc:chgData name="Rogers, Neil G CIV USAF USAFA DF/DFEC" userId="0395d458-0a93-4f9d-b15c-0e98da846b2b" providerId="ADAL" clId="{1A052D4D-0197-4A20-8711-A4148147650B}" dt="2024-12-20T21:44:56.525" v="127" actId="20577"/>
        <pc:sldMkLst>
          <pc:docMk/>
          <pc:sldMk cId="0" sldId="263"/>
        </pc:sldMkLst>
        <pc:graphicFrameChg chg="modGraphic">
          <ac:chgData name="Rogers, Neil G CIV USAF USAFA DF/DFEC" userId="0395d458-0a93-4f9d-b15c-0e98da846b2b" providerId="ADAL" clId="{1A052D4D-0197-4A20-8711-A4148147650B}" dt="2024-12-20T21:44:56.525" v="127" actId="20577"/>
          <ac:graphicFrameMkLst>
            <pc:docMk/>
            <pc:sldMk cId="0" sldId="263"/>
            <ac:graphicFrameMk id="8337" creationId="{00000000-0000-0000-0000-000000000000}"/>
          </ac:graphicFrameMkLst>
        </pc:graphicFrameChg>
      </pc:sldChg>
      <pc:sldChg chg="addSp delSp modSp del mod">
        <pc:chgData name="Rogers, Neil G CIV USAF USAFA DF/DFEC" userId="0395d458-0a93-4f9d-b15c-0e98da846b2b" providerId="ADAL" clId="{1A052D4D-0197-4A20-8711-A4148147650B}" dt="2024-12-20T21:45:05.605" v="129" actId="2696"/>
        <pc:sldMkLst>
          <pc:docMk/>
          <pc:sldMk cId="0" sldId="264"/>
        </pc:sldMkLst>
        <pc:spChg chg="add mod">
          <ac:chgData name="Rogers, Neil G CIV USAF USAFA DF/DFEC" userId="0395d458-0a93-4f9d-b15c-0e98da846b2b" providerId="ADAL" clId="{1A052D4D-0197-4A20-8711-A4148147650B}" dt="2024-12-20T21:45:02.730" v="128" actId="478"/>
          <ac:spMkLst>
            <pc:docMk/>
            <pc:sldMk cId="0" sldId="264"/>
            <ac:spMk id="3" creationId="{5DA3C710-AC9C-3187-E2FA-6F9E5AE82963}"/>
          </ac:spMkLst>
        </pc:spChg>
        <pc:graphicFrameChg chg="del">
          <ac:chgData name="Rogers, Neil G CIV USAF USAFA DF/DFEC" userId="0395d458-0a93-4f9d-b15c-0e98da846b2b" providerId="ADAL" clId="{1A052D4D-0197-4A20-8711-A4148147650B}" dt="2024-12-20T21:45:02.730" v="128" actId="478"/>
          <ac:graphicFrameMkLst>
            <pc:docMk/>
            <pc:sldMk cId="0" sldId="264"/>
            <ac:graphicFrameMk id="9387" creationId="{00000000-0000-0000-0000-000000000000}"/>
          </ac:graphicFrameMkLst>
        </pc:graphicFrameChg>
      </pc:sldChg>
      <pc:sldChg chg="addSp modSp mod">
        <pc:chgData name="Rogers, Neil G CIV USAF USAFA DF/DFEC" userId="0395d458-0a93-4f9d-b15c-0e98da846b2b" providerId="ADAL" clId="{1A052D4D-0197-4A20-8711-A4148147650B}" dt="2024-12-20T21:52:15.215" v="741" actId="20577"/>
        <pc:sldMkLst>
          <pc:docMk/>
          <pc:sldMk cId="0" sldId="265"/>
        </pc:sldMkLst>
        <pc:spChg chg="add mod">
          <ac:chgData name="Rogers, Neil G CIV USAF USAFA DF/DFEC" userId="0395d458-0a93-4f9d-b15c-0e98da846b2b" providerId="ADAL" clId="{1A052D4D-0197-4A20-8711-A4148147650B}" dt="2024-12-20T21:52:09.518" v="734" actId="20577"/>
          <ac:spMkLst>
            <pc:docMk/>
            <pc:sldMk cId="0" sldId="265"/>
            <ac:spMk id="2" creationId="{C8754110-0A96-8EDD-0664-DE8B81077EE9}"/>
          </ac:spMkLst>
        </pc:spChg>
        <pc:spChg chg="mod">
          <ac:chgData name="Rogers, Neil G CIV USAF USAFA DF/DFEC" userId="0395d458-0a93-4f9d-b15c-0e98da846b2b" providerId="ADAL" clId="{1A052D4D-0197-4A20-8711-A4148147650B}" dt="2024-12-20T21:52:15.215" v="741" actId="20577"/>
          <ac:spMkLst>
            <pc:docMk/>
            <pc:sldMk cId="0" sldId="265"/>
            <ac:spMk id="13315" creationId="{00000000-0000-0000-0000-000000000000}"/>
          </ac:spMkLst>
        </pc:spChg>
        <pc:graphicFrameChg chg="mod modGraphic">
          <ac:chgData name="Rogers, Neil G CIV USAF USAFA DF/DFEC" userId="0395d458-0a93-4f9d-b15c-0e98da846b2b" providerId="ADAL" clId="{1A052D4D-0197-4A20-8711-A4148147650B}" dt="2024-12-20T21:47:04.990" v="271" actId="20577"/>
          <ac:graphicFrameMkLst>
            <pc:docMk/>
            <pc:sldMk cId="0" sldId="265"/>
            <ac:graphicFrameMk id="41028" creationId="{00000000-0000-0000-0000-000000000000}"/>
          </ac:graphicFrameMkLst>
        </pc:graphicFrameChg>
      </pc:sldChg>
      <pc:sldChg chg="modSp mod">
        <pc:chgData name="Rogers, Neil G CIV USAF USAFA DF/DFEC" userId="0395d458-0a93-4f9d-b15c-0e98da846b2b" providerId="ADAL" clId="{1A052D4D-0197-4A20-8711-A4148147650B}" dt="2024-12-20T21:54:09.598" v="766" actId="20577"/>
        <pc:sldMkLst>
          <pc:docMk/>
          <pc:sldMk cId="0" sldId="268"/>
        </pc:sldMkLst>
        <pc:spChg chg="mod">
          <ac:chgData name="Rogers, Neil G CIV USAF USAFA DF/DFEC" userId="0395d458-0a93-4f9d-b15c-0e98da846b2b" providerId="ADAL" clId="{1A052D4D-0197-4A20-8711-A4148147650B}" dt="2024-12-20T21:52:32.366" v="743" actId="20577"/>
          <ac:spMkLst>
            <pc:docMk/>
            <pc:sldMk cId="0" sldId="268"/>
            <ac:spMk id="7" creationId="{00000000-0000-0000-0000-000000000000}"/>
          </ac:spMkLst>
        </pc:spChg>
        <pc:graphicFrameChg chg="modGraphic">
          <ac:chgData name="Rogers, Neil G CIV USAF USAFA DF/DFEC" userId="0395d458-0a93-4f9d-b15c-0e98da846b2b" providerId="ADAL" clId="{1A052D4D-0197-4A20-8711-A4148147650B}" dt="2024-12-20T21:53:43.058" v="760" actId="20577"/>
          <ac:graphicFrameMkLst>
            <pc:docMk/>
            <pc:sldMk cId="0" sldId="268"/>
            <ac:graphicFrameMk id="5" creationId="{00000000-0000-0000-0000-000000000000}"/>
          </ac:graphicFrameMkLst>
        </pc:graphicFrameChg>
        <pc:graphicFrameChg chg="modGraphic">
          <ac:chgData name="Rogers, Neil G CIV USAF USAFA DF/DFEC" userId="0395d458-0a93-4f9d-b15c-0e98da846b2b" providerId="ADAL" clId="{1A052D4D-0197-4A20-8711-A4148147650B}" dt="2024-12-20T21:54:09.598" v="766" actId="20577"/>
          <ac:graphicFrameMkLst>
            <pc:docMk/>
            <pc:sldMk cId="0" sldId="268"/>
            <ac:graphicFrameMk id="6" creationId="{00000000-0000-0000-0000-000000000000}"/>
          </ac:graphicFrameMkLst>
        </pc:graphicFrameChg>
      </pc:sldChg>
      <pc:sldChg chg="modSp mod">
        <pc:chgData name="Rogers, Neil G CIV USAF USAFA DF/DFEC" userId="0395d458-0a93-4f9d-b15c-0e98da846b2b" providerId="ADAL" clId="{1A052D4D-0197-4A20-8711-A4148147650B}" dt="2024-12-20T21:57:49.004" v="978" actId="207"/>
        <pc:sldMkLst>
          <pc:docMk/>
          <pc:sldMk cId="0" sldId="269"/>
        </pc:sldMkLst>
        <pc:spChg chg="mod">
          <ac:chgData name="Rogers, Neil G CIV USAF USAFA DF/DFEC" userId="0395d458-0a93-4f9d-b15c-0e98da846b2b" providerId="ADAL" clId="{1A052D4D-0197-4A20-8711-A4148147650B}" dt="2024-12-20T21:57:49.004" v="978" actId="207"/>
          <ac:spMkLst>
            <pc:docMk/>
            <pc:sldMk cId="0" sldId="269"/>
            <ac:spMk id="19458" creationId="{00000000-0000-0000-0000-000000000000}"/>
          </ac:spMkLst>
        </pc:spChg>
      </pc:sldChg>
      <pc:sldChg chg="modSp mod">
        <pc:chgData name="Rogers, Neil G CIV USAF USAFA DF/DFEC" userId="0395d458-0a93-4f9d-b15c-0e98da846b2b" providerId="ADAL" clId="{1A052D4D-0197-4A20-8711-A4148147650B}" dt="2024-12-20T21:41:14.978" v="3" actId="20577"/>
        <pc:sldMkLst>
          <pc:docMk/>
          <pc:sldMk cId="0" sldId="271"/>
        </pc:sldMkLst>
        <pc:spChg chg="mod">
          <ac:chgData name="Rogers, Neil G CIV USAF USAFA DF/DFEC" userId="0395d458-0a93-4f9d-b15c-0e98da846b2b" providerId="ADAL" clId="{1A052D4D-0197-4A20-8711-A4148147650B}" dt="2024-12-20T21:41:14.978" v="3" actId="20577"/>
          <ac:spMkLst>
            <pc:docMk/>
            <pc:sldMk cId="0" sldId="271"/>
            <ac:spMk id="3074" creationId="{00000000-0000-0000-0000-000000000000}"/>
          </ac:spMkLst>
        </pc:spChg>
      </pc:sldChg>
      <pc:sldChg chg="modSp add mod">
        <pc:chgData name="Rogers, Neil G CIV USAF USAFA DF/DFEC" userId="0395d458-0a93-4f9d-b15c-0e98da846b2b" providerId="ADAL" clId="{1A052D4D-0197-4A20-8711-A4148147650B}" dt="2024-12-20T21:59:56.413" v="1388" actId="20577"/>
        <pc:sldMkLst>
          <pc:docMk/>
          <pc:sldMk cId="1078748518" sldId="272"/>
        </pc:sldMkLst>
        <pc:spChg chg="mod">
          <ac:chgData name="Rogers, Neil G CIV USAF USAFA DF/DFEC" userId="0395d458-0a93-4f9d-b15c-0e98da846b2b" providerId="ADAL" clId="{1A052D4D-0197-4A20-8711-A4148147650B}" dt="2024-12-20T21:59:56.413" v="1388" actId="20577"/>
          <ac:spMkLst>
            <pc:docMk/>
            <pc:sldMk cId="1078748518" sldId="272"/>
            <ac:spMk id="19458" creationId="{8B402766-2DBF-A57C-F3DE-E6D438382EC5}"/>
          </ac:spMkLst>
        </pc:spChg>
        <pc:spChg chg="mod">
          <ac:chgData name="Rogers, Neil G CIV USAF USAFA DF/DFEC" userId="0395d458-0a93-4f9d-b15c-0e98da846b2b" providerId="ADAL" clId="{1A052D4D-0197-4A20-8711-A4148147650B}" dt="2024-12-20T21:56:21.438" v="973" actId="20577"/>
          <ac:spMkLst>
            <pc:docMk/>
            <pc:sldMk cId="1078748518" sldId="272"/>
            <ac:spMk id="19459" creationId="{4D8BEC96-B695-B95C-EAAA-4084280B0C8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050"/>
          <p:cNvSpPr>
            <a:spLocks noGrp="1" noChangeArrowheads="1"/>
          </p:cNvSpPr>
          <p:nvPr>
            <p:ph type="hdr" sz="quarter"/>
          </p:nvPr>
        </p:nvSpPr>
        <p:spPr bwMode="auto">
          <a:xfrm>
            <a:off x="0" y="0"/>
            <a:ext cx="3032337" cy="463310"/>
          </a:xfrm>
          <a:prstGeom prst="rect">
            <a:avLst/>
          </a:prstGeom>
          <a:noFill/>
          <a:ln w="12700">
            <a:noFill/>
            <a:miter lim="800000"/>
            <a:headEnd/>
            <a:tailEnd/>
          </a:ln>
          <a:effectLst/>
        </p:spPr>
        <p:txBody>
          <a:bodyPr vert="horz" wrap="square" lIns="92748" tIns="46374" rIns="92748" bIns="46374" numCol="1" anchor="t" anchorCtr="0" compatLnSpc="1">
            <a:prstTxWarp prst="textNoShape">
              <a:avLst/>
            </a:prstTxWarp>
          </a:bodyPr>
          <a:lstStyle>
            <a:lvl1pPr algn="l">
              <a:defRPr sz="1200"/>
            </a:lvl1pPr>
          </a:lstStyle>
          <a:p>
            <a:endParaRPr lang="en-US"/>
          </a:p>
        </p:txBody>
      </p:sp>
      <p:sp>
        <p:nvSpPr>
          <p:cNvPr id="32771" name="Rectangle 2051"/>
          <p:cNvSpPr>
            <a:spLocks noGrp="1" noChangeArrowheads="1"/>
          </p:cNvSpPr>
          <p:nvPr>
            <p:ph type="dt" sz="quarter" idx="1"/>
          </p:nvPr>
        </p:nvSpPr>
        <p:spPr bwMode="auto">
          <a:xfrm>
            <a:off x="3965363" y="0"/>
            <a:ext cx="3032337" cy="463310"/>
          </a:xfrm>
          <a:prstGeom prst="rect">
            <a:avLst/>
          </a:prstGeom>
          <a:noFill/>
          <a:ln w="12700">
            <a:noFill/>
            <a:miter lim="800000"/>
            <a:headEnd/>
            <a:tailEnd/>
          </a:ln>
          <a:effectLst/>
        </p:spPr>
        <p:txBody>
          <a:bodyPr vert="horz" wrap="square" lIns="92748" tIns="46374" rIns="92748" bIns="46374" numCol="1" anchor="t" anchorCtr="0" compatLnSpc="1">
            <a:prstTxWarp prst="textNoShape">
              <a:avLst/>
            </a:prstTxWarp>
          </a:bodyPr>
          <a:lstStyle>
            <a:lvl1pPr algn="r">
              <a:defRPr sz="1200"/>
            </a:lvl1pPr>
          </a:lstStyle>
          <a:p>
            <a:endParaRPr lang="en-US"/>
          </a:p>
        </p:txBody>
      </p:sp>
      <p:sp>
        <p:nvSpPr>
          <p:cNvPr id="32772" name="Rectangle 2052"/>
          <p:cNvSpPr>
            <a:spLocks noGrp="1" noChangeArrowheads="1"/>
          </p:cNvSpPr>
          <p:nvPr>
            <p:ph type="ftr" sz="quarter" idx="2"/>
          </p:nvPr>
        </p:nvSpPr>
        <p:spPr bwMode="auto">
          <a:xfrm>
            <a:off x="0" y="8807690"/>
            <a:ext cx="3032337" cy="463310"/>
          </a:xfrm>
          <a:prstGeom prst="rect">
            <a:avLst/>
          </a:prstGeom>
          <a:noFill/>
          <a:ln w="12700">
            <a:noFill/>
            <a:miter lim="800000"/>
            <a:headEnd/>
            <a:tailEnd/>
          </a:ln>
          <a:effectLst/>
        </p:spPr>
        <p:txBody>
          <a:bodyPr vert="horz" wrap="square" lIns="92748" tIns="46374" rIns="92748" bIns="46374" numCol="1" anchor="b" anchorCtr="0" compatLnSpc="1">
            <a:prstTxWarp prst="textNoShape">
              <a:avLst/>
            </a:prstTxWarp>
          </a:bodyPr>
          <a:lstStyle>
            <a:lvl1pPr algn="l">
              <a:defRPr sz="1200"/>
            </a:lvl1pPr>
          </a:lstStyle>
          <a:p>
            <a:endParaRPr lang="en-US"/>
          </a:p>
        </p:txBody>
      </p:sp>
      <p:sp>
        <p:nvSpPr>
          <p:cNvPr id="32773" name="Rectangle 2053"/>
          <p:cNvSpPr>
            <a:spLocks noGrp="1" noChangeArrowheads="1"/>
          </p:cNvSpPr>
          <p:nvPr>
            <p:ph type="sldNum" sz="quarter" idx="3"/>
          </p:nvPr>
        </p:nvSpPr>
        <p:spPr bwMode="auto">
          <a:xfrm>
            <a:off x="3965363" y="8807690"/>
            <a:ext cx="3032337" cy="463310"/>
          </a:xfrm>
          <a:prstGeom prst="rect">
            <a:avLst/>
          </a:prstGeom>
          <a:noFill/>
          <a:ln w="12700">
            <a:noFill/>
            <a:miter lim="800000"/>
            <a:headEnd/>
            <a:tailEnd/>
          </a:ln>
          <a:effectLst/>
        </p:spPr>
        <p:txBody>
          <a:bodyPr vert="horz" wrap="square" lIns="92748" tIns="46374" rIns="92748" bIns="46374" numCol="1" anchor="b" anchorCtr="0" compatLnSpc="1">
            <a:prstTxWarp prst="textNoShape">
              <a:avLst/>
            </a:prstTxWarp>
          </a:bodyPr>
          <a:lstStyle>
            <a:lvl1pPr algn="r">
              <a:defRPr sz="1200"/>
            </a:lvl1pPr>
          </a:lstStyle>
          <a:p>
            <a:fld id="{176E0720-C416-44F9-B93C-48B0B300904A}" type="slidenum">
              <a:rPr lang="en-US"/>
              <a:pPr/>
              <a:t>‹#›</a:t>
            </a:fld>
            <a:endParaRPr lang="en-US"/>
          </a:p>
        </p:txBody>
      </p:sp>
    </p:spTree>
    <p:extLst>
      <p:ext uri="{BB962C8B-B14F-4D97-AF65-F5344CB8AC3E}">
        <p14:creationId xmlns:p14="http://schemas.microsoft.com/office/powerpoint/2010/main" val="36094803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3032337" cy="463310"/>
          </a:xfrm>
          <a:prstGeom prst="rect">
            <a:avLst/>
          </a:prstGeom>
          <a:noFill/>
          <a:ln w="12700">
            <a:noFill/>
            <a:miter lim="800000"/>
            <a:headEnd/>
            <a:tailEnd/>
          </a:ln>
          <a:effectLst/>
        </p:spPr>
        <p:txBody>
          <a:bodyPr vert="horz" wrap="square" lIns="92748" tIns="46374" rIns="92748" bIns="46374" numCol="1" anchor="t" anchorCtr="0" compatLnSpc="1">
            <a:prstTxWarp prst="textNoShape">
              <a:avLst/>
            </a:prstTxWarp>
          </a:bodyPr>
          <a:lstStyle>
            <a:lvl1pPr algn="l">
              <a:defRPr sz="1200"/>
            </a:lvl1pPr>
          </a:lstStyle>
          <a:p>
            <a:endParaRPr lang="en-US"/>
          </a:p>
        </p:txBody>
      </p:sp>
      <p:sp>
        <p:nvSpPr>
          <p:cNvPr id="30723" name="Rectangle 3"/>
          <p:cNvSpPr>
            <a:spLocks noGrp="1" noChangeArrowheads="1"/>
          </p:cNvSpPr>
          <p:nvPr>
            <p:ph type="dt" idx="1"/>
          </p:nvPr>
        </p:nvSpPr>
        <p:spPr bwMode="auto">
          <a:xfrm>
            <a:off x="3965363" y="0"/>
            <a:ext cx="3032337" cy="463310"/>
          </a:xfrm>
          <a:prstGeom prst="rect">
            <a:avLst/>
          </a:prstGeom>
          <a:noFill/>
          <a:ln w="12700">
            <a:noFill/>
            <a:miter lim="800000"/>
            <a:headEnd/>
            <a:tailEnd/>
          </a:ln>
          <a:effectLst/>
        </p:spPr>
        <p:txBody>
          <a:bodyPr vert="horz" wrap="square" lIns="92748" tIns="46374" rIns="92748" bIns="46374" numCol="1" anchor="t" anchorCtr="0" compatLnSpc="1">
            <a:prstTxWarp prst="textNoShape">
              <a:avLst/>
            </a:prstTxWarp>
          </a:bodyPr>
          <a:lstStyle>
            <a:lvl1pPr algn="r">
              <a:defRPr sz="1200"/>
            </a:lvl1pPr>
          </a:lstStyle>
          <a:p>
            <a:endParaRPr lang="en-US"/>
          </a:p>
        </p:txBody>
      </p:sp>
      <p:sp>
        <p:nvSpPr>
          <p:cNvPr id="30724" name="Rectangle 4"/>
          <p:cNvSpPr>
            <a:spLocks noGrp="1" noRot="1" noChangeAspect="1" noChangeArrowheads="1" noTextEdit="1"/>
          </p:cNvSpPr>
          <p:nvPr>
            <p:ph type="sldImg" idx="2"/>
          </p:nvPr>
        </p:nvSpPr>
        <p:spPr bwMode="auto">
          <a:xfrm>
            <a:off x="1181100" y="695325"/>
            <a:ext cx="4637088" cy="3476625"/>
          </a:xfrm>
          <a:prstGeom prst="rect">
            <a:avLst/>
          </a:prstGeom>
          <a:noFill/>
          <a:ln w="9525">
            <a:solidFill>
              <a:srgbClr val="000000"/>
            </a:solidFill>
            <a:miter lim="800000"/>
            <a:headEnd/>
            <a:tailEnd/>
          </a:ln>
          <a:effectLst/>
        </p:spPr>
      </p:sp>
      <p:sp>
        <p:nvSpPr>
          <p:cNvPr id="30725" name="Rectangle 5"/>
          <p:cNvSpPr>
            <a:spLocks noGrp="1" noChangeArrowheads="1"/>
          </p:cNvSpPr>
          <p:nvPr>
            <p:ph type="body" sz="quarter" idx="3"/>
          </p:nvPr>
        </p:nvSpPr>
        <p:spPr bwMode="auto">
          <a:xfrm>
            <a:off x="933027" y="4403846"/>
            <a:ext cx="5131647" cy="4171389"/>
          </a:xfrm>
          <a:prstGeom prst="rect">
            <a:avLst/>
          </a:prstGeom>
          <a:noFill/>
          <a:ln w="12700">
            <a:noFill/>
            <a:miter lim="800000"/>
            <a:headEnd/>
            <a:tailEnd/>
          </a:ln>
          <a:effectLst/>
        </p:spPr>
        <p:txBody>
          <a:bodyPr vert="horz" wrap="square" lIns="92748" tIns="46374" rIns="92748" bIns="4637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26" name="Rectangle 6"/>
          <p:cNvSpPr>
            <a:spLocks noGrp="1" noChangeArrowheads="1"/>
          </p:cNvSpPr>
          <p:nvPr>
            <p:ph type="ftr" sz="quarter" idx="4"/>
          </p:nvPr>
        </p:nvSpPr>
        <p:spPr bwMode="auto">
          <a:xfrm>
            <a:off x="0" y="8807690"/>
            <a:ext cx="3032337" cy="463310"/>
          </a:xfrm>
          <a:prstGeom prst="rect">
            <a:avLst/>
          </a:prstGeom>
          <a:noFill/>
          <a:ln w="12700">
            <a:noFill/>
            <a:miter lim="800000"/>
            <a:headEnd/>
            <a:tailEnd/>
          </a:ln>
          <a:effectLst/>
        </p:spPr>
        <p:txBody>
          <a:bodyPr vert="horz" wrap="square" lIns="92748" tIns="46374" rIns="92748" bIns="46374" numCol="1" anchor="b" anchorCtr="0" compatLnSpc="1">
            <a:prstTxWarp prst="textNoShape">
              <a:avLst/>
            </a:prstTxWarp>
          </a:bodyPr>
          <a:lstStyle>
            <a:lvl1pPr algn="l">
              <a:defRPr sz="1200"/>
            </a:lvl1pPr>
          </a:lstStyle>
          <a:p>
            <a:endParaRPr lang="en-US"/>
          </a:p>
        </p:txBody>
      </p:sp>
      <p:sp>
        <p:nvSpPr>
          <p:cNvPr id="30727" name="Rectangle 7"/>
          <p:cNvSpPr>
            <a:spLocks noGrp="1" noChangeArrowheads="1"/>
          </p:cNvSpPr>
          <p:nvPr>
            <p:ph type="sldNum" sz="quarter" idx="5"/>
          </p:nvPr>
        </p:nvSpPr>
        <p:spPr bwMode="auto">
          <a:xfrm>
            <a:off x="3965363" y="8807690"/>
            <a:ext cx="3032337" cy="463310"/>
          </a:xfrm>
          <a:prstGeom prst="rect">
            <a:avLst/>
          </a:prstGeom>
          <a:noFill/>
          <a:ln w="12700">
            <a:noFill/>
            <a:miter lim="800000"/>
            <a:headEnd/>
            <a:tailEnd/>
          </a:ln>
          <a:effectLst/>
        </p:spPr>
        <p:txBody>
          <a:bodyPr vert="horz" wrap="square" lIns="92748" tIns="46374" rIns="92748" bIns="46374" numCol="1" anchor="b" anchorCtr="0" compatLnSpc="1">
            <a:prstTxWarp prst="textNoShape">
              <a:avLst/>
            </a:prstTxWarp>
          </a:bodyPr>
          <a:lstStyle>
            <a:lvl1pPr algn="r">
              <a:defRPr sz="1200"/>
            </a:lvl1pPr>
          </a:lstStyle>
          <a:p>
            <a:fld id="{6820F8F2-36E1-4E87-B1AB-703990CAE70C}" type="slidenum">
              <a:rPr lang="en-US"/>
              <a:pPr/>
              <a:t>‹#›</a:t>
            </a:fld>
            <a:endParaRPr lang="en-US"/>
          </a:p>
        </p:txBody>
      </p:sp>
    </p:spTree>
    <p:extLst>
      <p:ext uri="{BB962C8B-B14F-4D97-AF65-F5344CB8AC3E}">
        <p14:creationId xmlns:p14="http://schemas.microsoft.com/office/powerpoint/2010/main" val="1221084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48CE80B7-1FA5-4BEC-8AFF-E90E49AB4276}" type="slidenum">
              <a:rPr lang="en-US" smtClean="0"/>
              <a:pPr/>
              <a:t>1</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w="9525"/>
        </p:spPr>
        <p:txBody>
          <a:bodyPr/>
          <a:lstStyle/>
          <a:p>
            <a:pPr defTabSz="927476">
              <a:buFont typeface="Arial" pitchFamily="34" charset="0"/>
              <a:buChar char="•"/>
              <a:defRPr/>
            </a:pPr>
            <a:r>
              <a:rPr lang="en-US" dirty="0"/>
              <a:t>Save this file as "ECEXXX_CourseBrief_Semester_YYYY".</a:t>
            </a:r>
          </a:p>
          <a:p>
            <a:pPr defTabSz="927476">
              <a:buFont typeface="Arial" pitchFamily="34" charset="0"/>
              <a:buChar char="•"/>
              <a:defRPr/>
            </a:pPr>
            <a:r>
              <a:rPr lang="en-US" dirty="0"/>
              <a:t>Update course</a:t>
            </a:r>
            <a:r>
              <a:rPr lang="en-US" baseline="0" dirty="0"/>
              <a:t> number, title, and course director name</a:t>
            </a:r>
            <a:endParaRPr lang="en-US" dirty="0"/>
          </a:p>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D80BA5A0-F574-45D9-8EC6-4299CA282040}" type="slidenum">
              <a:rPr lang="en-US" smtClean="0"/>
              <a:pPr/>
              <a:t>2</a:t>
            </a:fld>
            <a:endParaRPr 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buFontTx/>
              <a:buChar char="•"/>
            </a:pPr>
            <a:r>
              <a:rPr lang="en-US" dirty="0"/>
              <a:t>The four  bullets are mandatory.  If  not required, use "None."</a:t>
            </a:r>
          </a:p>
          <a:p>
            <a:pPr eaLnBrk="1" hangingPunct="1">
              <a:buFontTx/>
              <a:buChar char="•"/>
            </a:pPr>
            <a:r>
              <a:rPr lang="en-US" dirty="0"/>
              <a:t>Show the Course Director by using "(</a:t>
            </a:r>
            <a:r>
              <a:rPr lang="en-US" b="1" dirty="0"/>
              <a:t>CD</a:t>
            </a:r>
            <a:r>
              <a:rPr lang="en-US" dirty="0"/>
              <a:t>)" as shown.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52BEBBEB-3A03-4E7D-8BD5-D561907C33B9}" type="slidenum">
              <a:rPr lang="en-US" smtClean="0"/>
              <a:pPr/>
              <a:t>3</a:t>
            </a:fld>
            <a:endParaRPr 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buFontTx/>
              <a:buChar char="•"/>
            </a:pPr>
            <a:r>
              <a:rPr lang="en-US" dirty="0"/>
              <a:t>Import directly from your approved Course Assessment Plan.</a:t>
            </a:r>
          </a:p>
          <a:p>
            <a:pPr eaLnBrk="1" hangingPunct="1">
              <a:buFontTx/>
              <a:buChar char="•"/>
            </a:pPr>
            <a:r>
              <a:rPr lang="en-US" dirty="0"/>
              <a:t>Changes to the course goal must be </a:t>
            </a:r>
            <a:r>
              <a:rPr lang="en-US" b="1" i="1" dirty="0"/>
              <a:t>pre-approved</a:t>
            </a:r>
            <a:r>
              <a:rPr lang="en-US" dirty="0"/>
              <a:t>  by the Curriculum Committee.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344A360E-2ACC-4774-B20C-BDDF1F15B88C}" type="slidenum">
              <a:rPr lang="en-US" smtClean="0"/>
              <a:pPr/>
              <a:t>4</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buFontTx/>
              <a:buChar char="•"/>
            </a:pPr>
            <a:r>
              <a:rPr lang="en-US" dirty="0"/>
              <a:t>Import directly from your approved Course Assessment Plan.</a:t>
            </a:r>
          </a:p>
          <a:p>
            <a:pPr eaLnBrk="1" hangingPunct="1">
              <a:buFontTx/>
              <a:buChar char="•"/>
            </a:pPr>
            <a:r>
              <a:rPr lang="en-US" dirty="0"/>
              <a:t>Changes to the course objectives must be </a:t>
            </a:r>
            <a:r>
              <a:rPr lang="en-US" b="1" i="1" dirty="0"/>
              <a:t>pre-approved</a:t>
            </a:r>
            <a:r>
              <a:rPr lang="en-US" dirty="0"/>
              <a:t> by the Curriculum committee.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DA52FC6D-6AA1-46A7-B506-CC36021E971C}" type="slidenum">
              <a:rPr lang="en-US" smtClean="0"/>
              <a:pPr/>
              <a:t>5</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buFontTx/>
              <a:buChar char="•"/>
            </a:pPr>
            <a:r>
              <a:rPr lang="en-US"/>
              <a:t>First bullet should cover all, </a:t>
            </a:r>
            <a:r>
              <a:rPr lang="en-US" b="1"/>
              <a:t>but only</a:t>
            </a:r>
            <a:r>
              <a:rPr lang="en-US"/>
              <a:t>, formal prerequisite courses as listed in the Curriculum Handbook </a:t>
            </a:r>
            <a:r>
              <a:rPr lang="en-US" b="1"/>
              <a:t>and</a:t>
            </a:r>
            <a:r>
              <a:rPr lang="en-US"/>
              <a:t> the topics within each prerequisite course that your course depends upon.</a:t>
            </a:r>
          </a:p>
          <a:p>
            <a:pPr eaLnBrk="1" hangingPunct="1">
              <a:buFontTx/>
              <a:buChar char="•"/>
            </a:pPr>
            <a:r>
              <a:rPr lang="en-US"/>
              <a:t>Second bullet lists any other topics and the courses you expect the cadets to have knowledge of.  If "None" so state.</a:t>
            </a:r>
          </a:p>
          <a:p>
            <a:pPr eaLnBrk="1" hangingPunct="1">
              <a:buFontTx/>
              <a:buChar char="•"/>
            </a:pPr>
            <a:r>
              <a:rPr lang="en-US"/>
              <a:t>Highlight a row and right click to add or delete rows in the tables.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5CCD1EE5-9C9F-49A8-B2AA-AE09D2F2CD35}" type="slidenum">
              <a:rPr lang="en-US" smtClean="0"/>
              <a:pPr/>
              <a:t>6</a:t>
            </a:fld>
            <a:endParaRPr lang="en-US"/>
          </a:p>
        </p:txBody>
      </p:sp>
      <p:sp>
        <p:nvSpPr>
          <p:cNvPr id="24579" name="Rectangle 2"/>
          <p:cNvSpPr>
            <a:spLocks noGrp="1" noRot="1" noChangeAspect="1" noChangeArrowheads="1" noTextEdit="1"/>
          </p:cNvSpPr>
          <p:nvPr>
            <p:ph type="sldImg"/>
          </p:nvPr>
        </p:nvSpPr>
        <p:spPr>
          <a:solidFill>
            <a:srgbClr val="FFFFFF"/>
          </a:solidFill>
          <a:ln/>
        </p:spPr>
      </p:sp>
      <p:sp>
        <p:nvSpPr>
          <p:cNvPr id="24580" name="Rectangle 3"/>
          <p:cNvSpPr>
            <a:spLocks noGrp="1" noChangeArrowheads="1"/>
          </p:cNvSpPr>
          <p:nvPr>
            <p:ph type="body" idx="1"/>
          </p:nvPr>
        </p:nvSpPr>
        <p:spPr>
          <a:solidFill>
            <a:srgbClr val="FFFFFF"/>
          </a:solidFill>
          <a:ln>
            <a:solidFill>
              <a:srgbClr val="000000"/>
            </a:solidFill>
          </a:ln>
        </p:spPr>
        <p:txBody>
          <a:bodyPr/>
          <a:lstStyle/>
          <a:p>
            <a:pPr eaLnBrk="1" hangingPunct="1">
              <a:buFontTx/>
              <a:buChar char="•"/>
            </a:pPr>
            <a:r>
              <a:rPr lang="en-US" dirty="0"/>
              <a:t>Answer each question on this slide.  Note the answers are in </a:t>
            </a:r>
            <a:r>
              <a:rPr lang="en-US" b="1" i="1" dirty="0"/>
              <a:t>bold italics</a:t>
            </a:r>
            <a:r>
              <a:rPr lang="en-US" dirty="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8C7B48F3-9D0B-4B29-8446-8822C0217C10}" type="slidenum">
              <a:rPr lang="en-US" smtClean="0"/>
              <a:pPr/>
              <a:t>7</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buFontTx/>
              <a:buChar char="•"/>
            </a:pPr>
            <a:r>
              <a:rPr lang="en-US"/>
              <a:t>Summary of topical coverage within the course. Group topics. -  Do not list “lesson by lesson.”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F5672AB5-CD7B-4A36-977C-3B46502EC041}" type="slidenum">
              <a:rPr lang="en-US" smtClean="0"/>
              <a:pPr/>
              <a:t>8</a:t>
            </a:fld>
            <a:endParaRPr lang="en-US"/>
          </a:p>
        </p:txBody>
      </p:sp>
      <p:sp>
        <p:nvSpPr>
          <p:cNvPr id="31747" name="Rectangle 2"/>
          <p:cNvSpPr>
            <a:spLocks noGrp="1" noRot="1" noChangeAspect="1" noChangeArrowheads="1" noTextEdit="1"/>
          </p:cNvSpPr>
          <p:nvPr>
            <p:ph type="sldImg"/>
          </p:nvPr>
        </p:nvSpPr>
        <p:spPr>
          <a:solidFill>
            <a:srgbClr val="FFFFFF"/>
          </a:solidFill>
          <a:ln/>
        </p:spPr>
      </p:sp>
      <p:sp>
        <p:nvSpPr>
          <p:cNvPr id="31748" name="Rectangle 3"/>
          <p:cNvSpPr>
            <a:spLocks noGrp="1" noChangeArrowheads="1"/>
          </p:cNvSpPr>
          <p:nvPr>
            <p:ph type="body" idx="1"/>
          </p:nvPr>
        </p:nvSpPr>
        <p:spPr>
          <a:solidFill>
            <a:srgbClr val="FFFFFF"/>
          </a:solidFill>
          <a:ln>
            <a:solidFill>
              <a:srgbClr val="000000"/>
            </a:solidFill>
          </a:ln>
        </p:spPr>
        <p:txBody>
          <a:bodyPr/>
          <a:lstStyle/>
          <a:p>
            <a:pPr eaLnBrk="1" hangingPunct="1">
              <a:buFontTx/>
              <a:buChar char="•"/>
            </a:pPr>
            <a:r>
              <a:rPr lang="en-US" dirty="0"/>
              <a:t>Include the percentages for your assessment tools at prog and the end of the semester.</a:t>
            </a:r>
          </a:p>
          <a:p>
            <a:pPr eaLnBrk="1" hangingPunct="1">
              <a:buFontTx/>
              <a:buChar char="•"/>
            </a:pPr>
            <a:r>
              <a:rPr lang="en-US" dirty="0"/>
              <a:t>You can adjust cell heights and widths just as you would in MSWord. Place the cursor on a line and move it.  You may need to adjust the font size to make adjustments.</a:t>
            </a:r>
          </a:p>
          <a:p>
            <a:pPr eaLnBrk="1" hangingPunct="1">
              <a:buFontTx/>
              <a:buChar char="•"/>
            </a:pPr>
            <a:r>
              <a:rPr lang="en-US" dirty="0"/>
              <a:t>For GR row, indicate number of exams.  The second column is the total number of GRs for the semester.</a:t>
            </a:r>
          </a:p>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en-US" dirty="0"/>
              <a:t>Import directly from your approved Course Assessment Plan.</a:t>
            </a:r>
          </a:p>
          <a:p>
            <a:pPr eaLnBrk="1" hangingPunct="1">
              <a:buFontTx/>
              <a:buChar char="•"/>
            </a:pPr>
            <a:r>
              <a:rPr lang="en-US" dirty="0"/>
              <a:t>Changes to the course PCO mapping must be </a:t>
            </a:r>
            <a:r>
              <a:rPr lang="en-US" b="1" i="1" dirty="0"/>
              <a:t>pre-approved </a:t>
            </a:r>
            <a:r>
              <a:rPr lang="en-US" dirty="0"/>
              <a:t> by the Curriculum committee.</a:t>
            </a:r>
          </a:p>
          <a:p>
            <a:endParaRPr lang="en-US" dirty="0"/>
          </a:p>
        </p:txBody>
      </p:sp>
      <p:sp>
        <p:nvSpPr>
          <p:cNvPr id="4" name="Slide Number Placeholder 3"/>
          <p:cNvSpPr>
            <a:spLocks noGrp="1"/>
          </p:cNvSpPr>
          <p:nvPr>
            <p:ph type="sldNum" sz="quarter" idx="10"/>
          </p:nvPr>
        </p:nvSpPr>
        <p:spPr/>
        <p:txBody>
          <a:bodyPr/>
          <a:lstStyle/>
          <a:p>
            <a:fld id="{6820F8F2-36E1-4E87-B1AB-703990CAE70C}"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en-US" dirty="0"/>
              <a:t>Stoplight chart from the previous Course</a:t>
            </a:r>
            <a:r>
              <a:rPr lang="en-US" baseline="0" dirty="0"/>
              <a:t> Assessment Report</a:t>
            </a:r>
          </a:p>
          <a:p>
            <a:pPr eaLnBrk="1" hangingPunct="1">
              <a:buFontTx/>
              <a:buChar char="•"/>
            </a:pPr>
            <a:r>
              <a:rPr lang="en-US" baseline="0" dirty="0"/>
              <a:t>Discuss any anomalies (e.g. Yellow/Red)</a:t>
            </a:r>
            <a:endParaRPr lang="en-US" dirty="0"/>
          </a:p>
          <a:p>
            <a:endParaRPr lang="en-US" dirty="0"/>
          </a:p>
        </p:txBody>
      </p:sp>
      <p:sp>
        <p:nvSpPr>
          <p:cNvPr id="4" name="Slide Number Placeholder 3"/>
          <p:cNvSpPr>
            <a:spLocks noGrp="1"/>
          </p:cNvSpPr>
          <p:nvPr>
            <p:ph type="sldNum" sz="quarter" idx="10"/>
          </p:nvPr>
        </p:nvSpPr>
        <p:spPr/>
        <p:txBody>
          <a:bodyPr/>
          <a:lstStyle/>
          <a:p>
            <a:fld id="{6820F8F2-36E1-4E87-B1AB-703990CAE70C}"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81E8FC74-DDF7-407B-82FD-7F65DCCD60D0}" type="slidenum">
              <a:rPr lang="en-US" smtClean="0"/>
              <a:pPr/>
              <a:t>11</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buFontTx/>
              <a:buChar char="•"/>
            </a:pPr>
            <a:r>
              <a:rPr lang="en-US" dirty="0"/>
              <a:t>This (and additional) slides as required, report your decisions to implement recommendations from the course report of the previous offering of the course. </a:t>
            </a:r>
          </a:p>
          <a:p>
            <a:pPr eaLnBrk="1" hangingPunct="1">
              <a:buFontTx/>
              <a:buChar char="•"/>
            </a:pPr>
            <a:r>
              <a:rPr lang="en-US" b="1" dirty="0"/>
              <a:t>Show or discuss any recommendations that require no action</a:t>
            </a:r>
            <a:r>
              <a:rPr lang="en-US" dirty="0"/>
              <a:t>.  For example, if the prior CD recommended continuing with the changes previously made and assessed to be successful, state your intention to comply. </a:t>
            </a:r>
          </a:p>
          <a:p>
            <a:pPr eaLnBrk="1" hangingPunct="1">
              <a:buFontTx/>
              <a:buChar char="•"/>
            </a:pPr>
            <a:r>
              <a:rPr lang="en-US" dirty="0"/>
              <a:t>If something that worked well this semester is recommended for continuation, you may list without this format.</a:t>
            </a:r>
            <a:endParaRPr lang="en-US" i="1" dirty="0"/>
          </a:p>
          <a:p>
            <a:pPr eaLnBrk="1" hangingPunct="1">
              <a:buFontTx/>
              <a:buChar char="•"/>
            </a:pPr>
            <a:r>
              <a:rPr lang="en-US" dirty="0">
                <a:cs typeface="Times New Roman" pitchFamily="18" charset="0"/>
              </a:rPr>
              <a:t>Coordinating Courses/Suspense:</a:t>
            </a:r>
            <a:r>
              <a:rPr lang="en-US" b="1" dirty="0">
                <a:cs typeface="Times New Roman" pitchFamily="18" charset="0"/>
              </a:rPr>
              <a:t> </a:t>
            </a:r>
            <a:r>
              <a:rPr lang="en-US" dirty="0">
                <a:cs typeface="Times New Roman" pitchFamily="18" charset="0"/>
              </a:rPr>
              <a:t>This could include a prerequisite or follow-on course for which the proposed solution impacts.  If the assessment method requires collecting data from one of these courses, include a proposed date for closure/ analysis of data.  It may be up to 18 months from semester of primary course offering.  The slide remains in all future course briefs until closed out by documenting assessment results in the end of course report.</a:t>
            </a:r>
          </a:p>
          <a:p>
            <a:pPr eaLnBrk="1" hangingPunct="1">
              <a:buFontTx/>
              <a:buChar char="•"/>
            </a:pPr>
            <a:r>
              <a:rPr lang="en-US" b="1" dirty="0"/>
              <a:t>Do not include</a:t>
            </a:r>
            <a:r>
              <a:rPr lang="en-US" dirty="0"/>
              <a:t> recommendations that are strictly administrative unless they impact other courses or assessment processes.</a:t>
            </a:r>
          </a:p>
          <a:p>
            <a:pPr eaLnBrk="1" hangingPunct="1">
              <a:buFontTx/>
              <a:buChar char="•"/>
            </a:pPr>
            <a:endParaRPr lang="en-US" dirty="0">
              <a:cs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19948-C333-BA3F-98BD-4EED2ACED77A}"/>
            </a:ext>
          </a:extLst>
        </p:cNvPr>
        <p:cNvGrpSpPr/>
        <p:nvPr/>
      </p:nvGrpSpPr>
      <p:grpSpPr>
        <a:xfrm>
          <a:off x="0" y="0"/>
          <a:ext cx="0" cy="0"/>
          <a:chOff x="0" y="0"/>
          <a:chExt cx="0" cy="0"/>
        </a:xfrm>
      </p:grpSpPr>
      <p:sp>
        <p:nvSpPr>
          <p:cNvPr id="40962" name="Rectangle 7">
            <a:extLst>
              <a:ext uri="{FF2B5EF4-FFF2-40B4-BE49-F238E27FC236}">
                <a16:creationId xmlns:a16="http://schemas.microsoft.com/office/drawing/2014/main" id="{4F98F3ED-7051-286D-A686-6B66DC654592}"/>
              </a:ext>
            </a:extLst>
          </p:cNvPr>
          <p:cNvSpPr>
            <a:spLocks noGrp="1" noChangeArrowheads="1"/>
          </p:cNvSpPr>
          <p:nvPr>
            <p:ph type="sldNum" sz="quarter" idx="5"/>
          </p:nvPr>
        </p:nvSpPr>
        <p:spPr>
          <a:noFill/>
        </p:spPr>
        <p:txBody>
          <a:bodyPr/>
          <a:lstStyle/>
          <a:p>
            <a:fld id="{81E8FC74-DDF7-407B-82FD-7F65DCCD60D0}" type="slidenum">
              <a:rPr lang="en-US" smtClean="0"/>
              <a:pPr/>
              <a:t>12</a:t>
            </a:fld>
            <a:endParaRPr lang="en-US"/>
          </a:p>
        </p:txBody>
      </p:sp>
      <p:sp>
        <p:nvSpPr>
          <p:cNvPr id="40963" name="Rectangle 2">
            <a:extLst>
              <a:ext uri="{FF2B5EF4-FFF2-40B4-BE49-F238E27FC236}">
                <a16:creationId xmlns:a16="http://schemas.microsoft.com/office/drawing/2014/main" id="{008543E0-C0D1-8D7F-2455-8408B4E7BABC}"/>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D7B7AB45-202D-5E90-B2F9-D7A35781CA8A}"/>
              </a:ext>
            </a:extLst>
          </p:cNvPr>
          <p:cNvSpPr>
            <a:spLocks noGrp="1" noChangeArrowheads="1"/>
          </p:cNvSpPr>
          <p:nvPr>
            <p:ph type="body" idx="1"/>
          </p:nvPr>
        </p:nvSpPr>
        <p:spPr>
          <a:noFill/>
          <a:ln/>
        </p:spPr>
        <p:txBody>
          <a:bodyPr/>
          <a:lstStyle/>
          <a:p>
            <a:pPr eaLnBrk="1" hangingPunct="1">
              <a:buFontTx/>
              <a:buChar char="•"/>
            </a:pPr>
            <a:r>
              <a:rPr lang="en-US" dirty="0"/>
              <a:t>This (and additional) slides as required, report your decisions to implement recommendations from the course report of the previous offering of the course. </a:t>
            </a:r>
          </a:p>
          <a:p>
            <a:pPr eaLnBrk="1" hangingPunct="1">
              <a:buFontTx/>
              <a:buChar char="•"/>
            </a:pPr>
            <a:r>
              <a:rPr lang="en-US" b="1" dirty="0"/>
              <a:t>Show or discuss any recommendations that require no action</a:t>
            </a:r>
            <a:r>
              <a:rPr lang="en-US" dirty="0"/>
              <a:t>.  For example, if the prior CD recommended continuing with the changes previously made and assessed to be successful, state your intention to comply. </a:t>
            </a:r>
          </a:p>
          <a:p>
            <a:pPr eaLnBrk="1" hangingPunct="1">
              <a:buFontTx/>
              <a:buChar char="•"/>
            </a:pPr>
            <a:r>
              <a:rPr lang="en-US" dirty="0"/>
              <a:t>If something that worked well this semester is recommended for continuation, you may list without this format.</a:t>
            </a:r>
            <a:endParaRPr lang="en-US" i="1" dirty="0"/>
          </a:p>
          <a:p>
            <a:pPr eaLnBrk="1" hangingPunct="1">
              <a:buFontTx/>
              <a:buChar char="•"/>
            </a:pPr>
            <a:r>
              <a:rPr lang="en-US" dirty="0">
                <a:cs typeface="Times New Roman" pitchFamily="18" charset="0"/>
              </a:rPr>
              <a:t>Coordinating Courses/Suspense:</a:t>
            </a:r>
            <a:r>
              <a:rPr lang="en-US" b="1" dirty="0">
                <a:cs typeface="Times New Roman" pitchFamily="18" charset="0"/>
              </a:rPr>
              <a:t> </a:t>
            </a:r>
            <a:r>
              <a:rPr lang="en-US" dirty="0">
                <a:cs typeface="Times New Roman" pitchFamily="18" charset="0"/>
              </a:rPr>
              <a:t>This could include a prerequisite or follow-on course for which the proposed solution impacts.  If the assessment method requires collecting data from one of these courses, include a proposed date for closure/ analysis of data.  It may be up to 18 months from semester of primary course offering.  The slide remains in all future course briefs until closed out by documenting assessment results in the end of course report.</a:t>
            </a:r>
          </a:p>
          <a:p>
            <a:pPr eaLnBrk="1" hangingPunct="1">
              <a:buFontTx/>
              <a:buChar char="•"/>
            </a:pPr>
            <a:r>
              <a:rPr lang="en-US" b="1" dirty="0"/>
              <a:t>Do not include</a:t>
            </a:r>
            <a:r>
              <a:rPr lang="en-US" dirty="0"/>
              <a:t> recommendations that are strictly administrative unless they impact other courses or assessment processes.</a:t>
            </a:r>
          </a:p>
          <a:p>
            <a:pPr eaLnBrk="1" hangingPunct="1">
              <a:buFontTx/>
              <a:buChar char="•"/>
            </a:pPr>
            <a:endParaRPr lang="en-US" dirty="0">
              <a:cs typeface="Times New Roman" pitchFamily="18" charset="0"/>
            </a:endParaRPr>
          </a:p>
        </p:txBody>
      </p:sp>
    </p:spTree>
    <p:extLst>
      <p:ext uri="{BB962C8B-B14F-4D97-AF65-F5344CB8AC3E}">
        <p14:creationId xmlns:p14="http://schemas.microsoft.com/office/powerpoint/2010/main" val="2435580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a:t>Update revisions</a:t>
            </a:r>
            <a:r>
              <a:rPr lang="en-US" baseline="0" dirty="0"/>
              <a:t> to </a:t>
            </a:r>
            <a:r>
              <a:rPr lang="en-US" b="1" u="sng" baseline="0" dirty="0"/>
              <a:t>your</a:t>
            </a:r>
            <a:r>
              <a:rPr lang="en-US" baseline="0" dirty="0"/>
              <a:t> course brief</a:t>
            </a:r>
          </a:p>
          <a:p>
            <a:pPr>
              <a:buFont typeface="Arial" pitchFamily="34" charset="0"/>
              <a:buChar char="•"/>
            </a:pPr>
            <a:r>
              <a:rPr lang="en-US" baseline="0" dirty="0"/>
              <a:t>Cut &amp; paste from your previous course brief to this new template and update/format as needed</a:t>
            </a:r>
            <a:endParaRPr lang="en-US" dirty="0"/>
          </a:p>
        </p:txBody>
      </p:sp>
      <p:sp>
        <p:nvSpPr>
          <p:cNvPr id="4" name="Slide Number Placeholder 3"/>
          <p:cNvSpPr>
            <a:spLocks noGrp="1"/>
          </p:cNvSpPr>
          <p:nvPr>
            <p:ph type="sldNum" sz="quarter" idx="10"/>
          </p:nvPr>
        </p:nvSpPr>
        <p:spPr/>
        <p:txBody>
          <a:bodyPr/>
          <a:lstStyle/>
          <a:p>
            <a:fld id="{6820F8F2-36E1-4E87-B1AB-703990CAE70C}"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64360" y="133350"/>
            <a:ext cx="7054850" cy="1143000"/>
          </a:xfrm>
        </p:spPr>
        <p:txBody>
          <a:bodyPr/>
          <a:lstStyle>
            <a:lvl1pPr>
              <a:defRPr/>
            </a:lvl1pPr>
          </a:lstStyle>
          <a:p>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B3EB24CA-5395-47FC-B9F9-D52B42541625}" type="slidenum">
              <a:rPr lang="en-US"/>
              <a:pPr/>
              <a:t>‹#›</a:t>
            </a:fld>
            <a:r>
              <a:rPr lang="en-US"/>
              <a:t>/37</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endParaRPr lang="en-US" dirty="0"/>
          </a:p>
        </p:txBody>
      </p:sp>
      <p:sp>
        <p:nvSpPr>
          <p:cNvPr id="3" name="Slide Number Placeholder 2"/>
          <p:cNvSpPr>
            <a:spLocks noGrp="1"/>
          </p:cNvSpPr>
          <p:nvPr>
            <p:ph type="sldNum" sz="quarter" idx="10"/>
          </p:nvPr>
        </p:nvSpPr>
        <p:spPr/>
        <p:txBody>
          <a:bodyPr/>
          <a:lstStyle/>
          <a:p>
            <a:fld id="{7D3C0033-0634-4A5C-B5EF-D90874EB3B23}" type="slidenum">
              <a:rPr lang="en-US" smtClean="0"/>
              <a:pPr/>
              <a:t>‹#›</a:t>
            </a:fld>
            <a:r>
              <a:rPr lang="en-US"/>
              <a:t>/37</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Line 14"/>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anchor="ctr"/>
          <a:lstStyle/>
          <a:p>
            <a:pPr>
              <a:defRPr/>
            </a:pPr>
            <a:endParaRPr lang="en-US" dirty="0"/>
          </a:p>
        </p:txBody>
      </p:sp>
      <p:sp>
        <p:nvSpPr>
          <p:cNvPr id="5" name="Text Box 27"/>
          <p:cNvSpPr txBox="1">
            <a:spLocks noChangeArrowheads="1"/>
          </p:cNvSpPr>
          <p:nvPr/>
        </p:nvSpPr>
        <p:spPr bwMode="auto">
          <a:xfrm>
            <a:off x="1751976" y="418783"/>
            <a:ext cx="7049750" cy="646331"/>
          </a:xfrm>
          <a:prstGeom prst="rect">
            <a:avLst/>
          </a:prstGeom>
          <a:noFill/>
          <a:ln w="9525">
            <a:noFill/>
            <a:miter lim="800000"/>
            <a:headEnd/>
            <a:tailEnd/>
          </a:ln>
          <a:effectLst/>
        </p:spPr>
        <p:txBody>
          <a:bodyPr wrap="none">
            <a:spAutoFit/>
          </a:bodyPr>
          <a:lstStyle/>
          <a:p>
            <a:pPr>
              <a:defRPr/>
            </a:pPr>
            <a:r>
              <a:rPr lang="en-US" sz="3600" b="1" i="1" dirty="0"/>
              <a:t>U.S. Air Force Academy - DFEC</a:t>
            </a:r>
          </a:p>
        </p:txBody>
      </p:sp>
      <p:pic>
        <p:nvPicPr>
          <p:cNvPr id="6" name="Picture 31" descr="usafaseal2"/>
          <p:cNvPicPr>
            <a:picLocks noChangeAspect="1" noChangeArrowheads="1"/>
          </p:cNvPicPr>
          <p:nvPr userDrawn="1"/>
        </p:nvPicPr>
        <p:blipFill>
          <a:blip r:embed="rId2" cstate="print"/>
          <a:srcRect/>
          <a:stretch>
            <a:fillRect/>
          </a:stretch>
        </p:blipFill>
        <p:spPr bwMode="auto">
          <a:xfrm>
            <a:off x="520700" y="2903538"/>
            <a:ext cx="3035300" cy="3187700"/>
          </a:xfrm>
          <a:prstGeom prst="rect">
            <a:avLst/>
          </a:prstGeom>
          <a:noFill/>
          <a:ln w="9525">
            <a:noFill/>
            <a:miter lim="800000"/>
            <a:headEnd/>
            <a:tailEnd/>
          </a:ln>
        </p:spPr>
      </p:pic>
      <p:sp>
        <p:nvSpPr>
          <p:cNvPr id="7" name="Text Box 32"/>
          <p:cNvSpPr txBox="1">
            <a:spLocks noChangeArrowheads="1"/>
          </p:cNvSpPr>
          <p:nvPr userDrawn="1"/>
        </p:nvSpPr>
        <p:spPr bwMode="auto">
          <a:xfrm>
            <a:off x="1228725" y="1416050"/>
            <a:ext cx="6553200" cy="396875"/>
          </a:xfrm>
          <a:prstGeom prst="rect">
            <a:avLst/>
          </a:prstGeom>
          <a:noFill/>
          <a:ln w="9525">
            <a:noFill/>
            <a:miter lim="800000"/>
            <a:headEnd/>
            <a:tailEnd/>
          </a:ln>
          <a:effectLst/>
        </p:spPr>
        <p:txBody>
          <a:bodyPr>
            <a:spAutoFit/>
          </a:bodyPr>
          <a:lstStyle/>
          <a:p>
            <a:pPr>
              <a:spcBef>
                <a:spcPct val="50000"/>
              </a:spcBef>
              <a:defRPr/>
            </a:pPr>
            <a:r>
              <a:rPr lang="en-US" sz="2000" b="1" i="1" dirty="0">
                <a:latin typeface="Century Schoolbook" pitchFamily="18" charset="0"/>
              </a:rPr>
              <a:t>I n t e g r i t y  -  S e r v i c e  -  E x c e l l e n c e</a:t>
            </a:r>
          </a:p>
        </p:txBody>
      </p:sp>
      <p:sp>
        <p:nvSpPr>
          <p:cNvPr id="33802" name="Rectangle 10"/>
          <p:cNvSpPr>
            <a:spLocks noGrp="1" noChangeArrowheads="1"/>
          </p:cNvSpPr>
          <p:nvPr>
            <p:ph type="subTitle" idx="1"/>
          </p:nvPr>
        </p:nvSpPr>
        <p:spPr>
          <a:xfrm>
            <a:off x="4533900" y="5162550"/>
            <a:ext cx="4038600" cy="1162050"/>
          </a:xfrm>
        </p:spPr>
        <p:txBody>
          <a:bodyPr/>
          <a:lstStyle>
            <a:lvl1pPr marL="0" indent="0" algn="r">
              <a:buFont typeface="Wingdings" pitchFamily="2" charset="2"/>
              <a:buNone/>
              <a:defRPr/>
            </a:lvl1pPr>
          </a:lstStyle>
          <a:p>
            <a:r>
              <a:rPr lang="en-US"/>
              <a:t>Briefer’s Name</a:t>
            </a:r>
          </a:p>
          <a:p>
            <a:r>
              <a:rPr lang="en-US"/>
              <a:t>Office Symbol</a:t>
            </a:r>
          </a:p>
        </p:txBody>
      </p:sp>
      <p:sp>
        <p:nvSpPr>
          <p:cNvPr id="33805" name="Rectangle 13"/>
          <p:cNvSpPr>
            <a:spLocks noGrp="1" noChangeArrowheads="1"/>
          </p:cNvSpPr>
          <p:nvPr>
            <p:ph type="ctrTitle"/>
          </p:nvPr>
        </p:nvSpPr>
        <p:spPr>
          <a:xfrm>
            <a:off x="3848100" y="2286000"/>
            <a:ext cx="4762500" cy="1905000"/>
          </a:xfrm>
        </p:spPr>
        <p:txBody>
          <a:bodyPr/>
          <a:lstStyle>
            <a:lvl1pPr>
              <a:defRPr sz="4400"/>
            </a:lvl1pPr>
          </a:lstStyle>
          <a:p>
            <a:r>
              <a:rPr lang="en-US"/>
              <a:t>Briefing Topic Title Goes Here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384175" y="1536700"/>
            <a:ext cx="8383588" cy="4740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026" name="Rectangle 2"/>
          <p:cNvSpPr>
            <a:spLocks noGrp="1" noChangeArrowheads="1"/>
          </p:cNvSpPr>
          <p:nvPr>
            <p:ph type="title"/>
          </p:nvPr>
        </p:nvSpPr>
        <p:spPr bwMode="auto">
          <a:xfrm>
            <a:off x="1752600" y="133350"/>
            <a:ext cx="705485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endParaRPr lang="en-US" dirty="0"/>
          </a:p>
        </p:txBody>
      </p:sp>
      <p:sp>
        <p:nvSpPr>
          <p:cNvPr id="1039" name="Line 15"/>
          <p:cNvSpPr>
            <a:spLocks noChangeShapeType="1"/>
          </p:cNvSpPr>
          <p:nvPr/>
        </p:nvSpPr>
        <p:spPr bwMode="auto">
          <a:xfrm>
            <a:off x="382588" y="6451600"/>
            <a:ext cx="8382000" cy="0"/>
          </a:xfrm>
          <a:prstGeom prst="line">
            <a:avLst/>
          </a:prstGeom>
          <a:noFill/>
          <a:ln w="57150">
            <a:solidFill>
              <a:srgbClr val="0C2D83"/>
            </a:solidFill>
            <a:round/>
            <a:headEnd/>
            <a:tailEnd/>
          </a:ln>
          <a:effectLst/>
        </p:spPr>
        <p:txBody>
          <a:bodyPr wrap="none" anchor="ctr"/>
          <a:lstStyle/>
          <a:p>
            <a:endParaRPr lang="en-US"/>
          </a:p>
        </p:txBody>
      </p:sp>
      <p:sp>
        <p:nvSpPr>
          <p:cNvPr id="1041" name="Line 17"/>
          <p:cNvSpPr>
            <a:spLocks noChangeShapeType="1"/>
          </p:cNvSpPr>
          <p:nvPr/>
        </p:nvSpPr>
        <p:spPr bwMode="auto">
          <a:xfrm>
            <a:off x="384175" y="1414463"/>
            <a:ext cx="8382000" cy="0"/>
          </a:xfrm>
          <a:prstGeom prst="line">
            <a:avLst/>
          </a:prstGeom>
          <a:noFill/>
          <a:ln w="57150">
            <a:solidFill>
              <a:srgbClr val="0C2D83"/>
            </a:solidFill>
            <a:round/>
            <a:headEnd/>
            <a:tailEnd/>
          </a:ln>
          <a:effectLst/>
        </p:spPr>
        <p:txBody>
          <a:bodyPr wrap="none" anchor="ctr"/>
          <a:lstStyle/>
          <a:p>
            <a:endParaRPr lang="en-US"/>
          </a:p>
        </p:txBody>
      </p:sp>
      <p:pic>
        <p:nvPicPr>
          <p:cNvPr id="1065" name="Picture 41" descr="usafaseal2"/>
          <p:cNvPicPr>
            <a:picLocks noChangeAspect="1" noChangeArrowheads="1"/>
          </p:cNvPicPr>
          <p:nvPr/>
        </p:nvPicPr>
        <p:blipFill>
          <a:blip r:embed="rId5" cstate="print"/>
          <a:srcRect/>
          <a:stretch>
            <a:fillRect/>
          </a:stretch>
        </p:blipFill>
        <p:spPr bwMode="auto">
          <a:xfrm>
            <a:off x="385763" y="0"/>
            <a:ext cx="1287462" cy="1352550"/>
          </a:xfrm>
          <a:prstGeom prst="rect">
            <a:avLst/>
          </a:prstGeom>
          <a:noFill/>
        </p:spPr>
      </p:pic>
      <p:sp>
        <p:nvSpPr>
          <p:cNvPr id="1067" name="Text Box 43"/>
          <p:cNvSpPr txBox="1">
            <a:spLocks noChangeArrowheads="1"/>
          </p:cNvSpPr>
          <p:nvPr/>
        </p:nvSpPr>
        <p:spPr bwMode="auto">
          <a:xfrm>
            <a:off x="1296988" y="6521450"/>
            <a:ext cx="6553200" cy="336550"/>
          </a:xfrm>
          <a:prstGeom prst="rect">
            <a:avLst/>
          </a:prstGeom>
          <a:noFill/>
          <a:ln w="9525">
            <a:noFill/>
            <a:miter lim="800000"/>
            <a:headEnd/>
            <a:tailEnd/>
          </a:ln>
          <a:effectLst/>
        </p:spPr>
        <p:txBody>
          <a:bodyPr>
            <a:spAutoFit/>
          </a:bodyPr>
          <a:lstStyle/>
          <a:p>
            <a:pPr>
              <a:spcBef>
                <a:spcPct val="50000"/>
              </a:spcBef>
            </a:pPr>
            <a:r>
              <a:rPr lang="en-US" sz="1600" b="1" i="1">
                <a:latin typeface="Century Schoolbook" pitchFamily="18" charset="0"/>
              </a:rPr>
              <a:t>I n t e g r i t y  -  S e r v i c e  -  E x c e l l e n c e</a:t>
            </a:r>
          </a:p>
        </p:txBody>
      </p:sp>
      <p:sp>
        <p:nvSpPr>
          <p:cNvPr id="1070" name="Rectangle 46"/>
          <p:cNvSpPr>
            <a:spLocks noGrp="1" noChangeArrowheads="1"/>
          </p:cNvSpPr>
          <p:nvPr>
            <p:ph type="sldNum" sz="quarter" idx="4"/>
          </p:nvPr>
        </p:nvSpPr>
        <p:spPr bwMode="auto">
          <a:xfrm>
            <a:off x="7334250" y="6524625"/>
            <a:ext cx="1452563"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1"/>
            </a:lvl1pPr>
          </a:lstStyle>
          <a:p>
            <a:fld id="{7D3C0033-0634-4A5C-B5EF-D90874EB3B23}" type="slidenum">
              <a:rPr lang="en-US"/>
              <a:pPr/>
              <a:t>‹#›</a:t>
            </a:fld>
            <a:r>
              <a:rPr lang="en-US"/>
              <a:t>/37</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Lst>
  <p:hf hdr="0" ftr="0" dt="0"/>
  <p:txStyles>
    <p:titleStyle>
      <a:lvl1pPr algn="r" rtl="0" eaLnBrk="1" fontAlgn="base" hangingPunct="1">
        <a:spcBef>
          <a:spcPct val="0"/>
        </a:spcBef>
        <a:spcAft>
          <a:spcPct val="0"/>
        </a:spcAft>
        <a:defRPr sz="3600" b="1">
          <a:solidFill>
            <a:srgbClr val="0C2D83"/>
          </a:solidFill>
          <a:latin typeface="+mj-lt"/>
          <a:ea typeface="+mj-ea"/>
          <a:cs typeface="+mj-cs"/>
        </a:defRPr>
      </a:lvl1pPr>
      <a:lvl2pPr algn="r" rtl="0" eaLnBrk="1" fontAlgn="base" hangingPunct="1">
        <a:spcBef>
          <a:spcPct val="0"/>
        </a:spcBef>
        <a:spcAft>
          <a:spcPct val="0"/>
        </a:spcAft>
        <a:defRPr sz="3600" b="1">
          <a:solidFill>
            <a:srgbClr val="0C2D83"/>
          </a:solidFill>
          <a:latin typeface="Arial" charset="0"/>
        </a:defRPr>
      </a:lvl2pPr>
      <a:lvl3pPr algn="r" rtl="0" eaLnBrk="1" fontAlgn="base" hangingPunct="1">
        <a:spcBef>
          <a:spcPct val="0"/>
        </a:spcBef>
        <a:spcAft>
          <a:spcPct val="0"/>
        </a:spcAft>
        <a:defRPr sz="3600" b="1">
          <a:solidFill>
            <a:srgbClr val="0C2D83"/>
          </a:solidFill>
          <a:latin typeface="Arial" charset="0"/>
        </a:defRPr>
      </a:lvl3pPr>
      <a:lvl4pPr algn="r" rtl="0" eaLnBrk="1" fontAlgn="base" hangingPunct="1">
        <a:spcBef>
          <a:spcPct val="0"/>
        </a:spcBef>
        <a:spcAft>
          <a:spcPct val="0"/>
        </a:spcAft>
        <a:defRPr sz="3600" b="1">
          <a:solidFill>
            <a:srgbClr val="0C2D83"/>
          </a:solidFill>
          <a:latin typeface="Arial" charset="0"/>
        </a:defRPr>
      </a:lvl4pPr>
      <a:lvl5pPr algn="r" rtl="0" eaLnBrk="1" fontAlgn="base" hangingPunct="1">
        <a:spcBef>
          <a:spcPct val="0"/>
        </a:spcBef>
        <a:spcAft>
          <a:spcPct val="0"/>
        </a:spcAft>
        <a:defRPr sz="3600" b="1">
          <a:solidFill>
            <a:srgbClr val="0C2D83"/>
          </a:solidFill>
          <a:latin typeface="Arial" charset="0"/>
        </a:defRPr>
      </a:lvl5pPr>
      <a:lvl6pPr marL="457200" algn="r" rtl="0" eaLnBrk="1" fontAlgn="base" hangingPunct="1">
        <a:spcBef>
          <a:spcPct val="0"/>
        </a:spcBef>
        <a:spcAft>
          <a:spcPct val="0"/>
        </a:spcAft>
        <a:defRPr sz="3600" b="1">
          <a:solidFill>
            <a:srgbClr val="0C2D83"/>
          </a:solidFill>
          <a:latin typeface="Arial" charset="0"/>
        </a:defRPr>
      </a:lvl6pPr>
      <a:lvl7pPr marL="914400" algn="r" rtl="0" eaLnBrk="1" fontAlgn="base" hangingPunct="1">
        <a:spcBef>
          <a:spcPct val="0"/>
        </a:spcBef>
        <a:spcAft>
          <a:spcPct val="0"/>
        </a:spcAft>
        <a:defRPr sz="3600" b="1">
          <a:solidFill>
            <a:srgbClr val="0C2D83"/>
          </a:solidFill>
          <a:latin typeface="Arial" charset="0"/>
        </a:defRPr>
      </a:lvl7pPr>
      <a:lvl8pPr marL="1371600" algn="r" rtl="0" eaLnBrk="1" fontAlgn="base" hangingPunct="1">
        <a:spcBef>
          <a:spcPct val="0"/>
        </a:spcBef>
        <a:spcAft>
          <a:spcPct val="0"/>
        </a:spcAft>
        <a:defRPr sz="3600" b="1">
          <a:solidFill>
            <a:srgbClr val="0C2D83"/>
          </a:solidFill>
          <a:latin typeface="Arial" charset="0"/>
        </a:defRPr>
      </a:lvl8pPr>
      <a:lvl9pPr marL="1828800" algn="r" rtl="0" eaLnBrk="1" fontAlgn="base" hangingPunct="1">
        <a:spcBef>
          <a:spcPct val="0"/>
        </a:spcBef>
        <a:spcAft>
          <a:spcPct val="0"/>
        </a:spcAft>
        <a:defRPr sz="3600" b="1">
          <a:solidFill>
            <a:srgbClr val="0C2D83"/>
          </a:solidFill>
          <a:latin typeface="Arial" charset="0"/>
        </a:defRPr>
      </a:lvl9pPr>
    </p:titleStyle>
    <p:bodyStyle>
      <a:lvl1pPr marL="285750" indent="-285750" algn="l" rtl="0" eaLnBrk="1" fontAlgn="base" hangingPunct="1">
        <a:spcBef>
          <a:spcPct val="20000"/>
        </a:spcBef>
        <a:spcAft>
          <a:spcPct val="0"/>
        </a:spcAft>
        <a:buClr>
          <a:srgbClr val="0C2D83"/>
        </a:buClr>
        <a:buSzPct val="80000"/>
        <a:buFont typeface="Wingdings" pitchFamily="2" charset="2"/>
        <a:buChar char="n"/>
        <a:defRPr sz="2400" b="1">
          <a:solidFill>
            <a:schemeClr val="tx1"/>
          </a:solidFill>
          <a:latin typeface="+mn-lt"/>
          <a:ea typeface="+mn-ea"/>
          <a:cs typeface="+mn-cs"/>
        </a:defRPr>
      </a:lvl1pPr>
      <a:lvl2pPr marL="688975" indent="-282575" algn="l" rtl="0" eaLnBrk="1" fontAlgn="base" hangingPunct="1">
        <a:spcBef>
          <a:spcPct val="20000"/>
        </a:spcBef>
        <a:spcAft>
          <a:spcPct val="0"/>
        </a:spcAft>
        <a:buClr>
          <a:srgbClr val="0C2D83"/>
        </a:buClr>
        <a:buSzPct val="80000"/>
        <a:buFont typeface="Wingdings" pitchFamily="2" charset="2"/>
        <a:buChar char="n"/>
        <a:defRPr sz="2200" b="1">
          <a:solidFill>
            <a:schemeClr val="tx1"/>
          </a:solidFill>
          <a:latin typeface="+mn-lt"/>
        </a:defRPr>
      </a:lvl2pPr>
      <a:lvl3pPr marL="1027113" indent="-223838" algn="l" rtl="0" eaLnBrk="1" fontAlgn="base" hangingPunct="1">
        <a:spcBef>
          <a:spcPct val="20000"/>
        </a:spcBef>
        <a:spcAft>
          <a:spcPct val="0"/>
        </a:spcAft>
        <a:buClr>
          <a:srgbClr val="0C2D83"/>
        </a:buClr>
        <a:buSzPct val="80000"/>
        <a:buFont typeface="Wingdings" pitchFamily="2" charset="2"/>
        <a:buChar char="n"/>
        <a:defRPr sz="2000" b="1">
          <a:solidFill>
            <a:schemeClr val="tx1"/>
          </a:solidFill>
          <a:latin typeface="+mn-lt"/>
        </a:defRPr>
      </a:lvl3pPr>
      <a:lvl4pPr marL="1600200" indent="-228600" algn="l" rtl="0" eaLnBrk="1" fontAlgn="base" hangingPunct="1">
        <a:spcBef>
          <a:spcPct val="20000"/>
        </a:spcBef>
        <a:spcAft>
          <a:spcPct val="0"/>
        </a:spcAft>
        <a:buClr>
          <a:srgbClr val="003399"/>
        </a:buClr>
        <a:buSzPct val="80000"/>
        <a:buFont typeface="Wingdings" pitchFamily="2" charset="2"/>
        <a:buChar char="n"/>
        <a:defRPr b="1">
          <a:solidFill>
            <a:schemeClr val="tx1"/>
          </a:solidFill>
          <a:latin typeface="+mn-lt"/>
        </a:defRPr>
      </a:lvl4pPr>
      <a:lvl5pPr marL="2057400" indent="-228600" algn="l" rtl="0" eaLnBrk="1" fontAlgn="base" hangingPunct="1">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4600" indent="-228600" algn="l" rtl="0" eaLnBrk="1" fontAlgn="base" hangingPunct="1">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800" indent="-228600" algn="l" rtl="0" eaLnBrk="1" fontAlgn="base" hangingPunct="1">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9000" indent="-228600" algn="l" rtl="0" eaLnBrk="1" fontAlgn="base" hangingPunct="1">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200" indent="-228600" algn="l" rtl="0" eaLnBrk="1" fontAlgn="base" hangingPunct="1">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p:txBody>
          <a:bodyPr/>
          <a:lstStyle/>
          <a:p>
            <a:r>
              <a:rPr lang="en-US" i="1" dirty="0"/>
              <a:t>Dr. Neil Rogers</a:t>
            </a:r>
          </a:p>
        </p:txBody>
      </p:sp>
      <p:sp>
        <p:nvSpPr>
          <p:cNvPr id="3075" name="Rectangle 2"/>
          <p:cNvSpPr>
            <a:spLocks noGrp="1" noChangeArrowheads="1"/>
          </p:cNvSpPr>
          <p:nvPr>
            <p:ph type="ctrTitle"/>
          </p:nvPr>
        </p:nvSpPr>
        <p:spPr/>
        <p:txBody>
          <a:bodyPr/>
          <a:lstStyle/>
          <a:p>
            <a:r>
              <a:rPr lang="en-US" sz="3600" dirty="0"/>
              <a:t>ECE 343</a:t>
            </a:r>
            <a:br>
              <a:rPr lang="en-US" sz="3600" dirty="0"/>
            </a:br>
            <a:r>
              <a:rPr lang="en-US" sz="3600" dirty="0" err="1"/>
              <a:t>Electromagnetics</a:t>
            </a:r>
            <a:br>
              <a:rPr lang="en-US" sz="3600" dirty="0"/>
            </a:br>
            <a:r>
              <a:rPr lang="en-US" sz="3600" dirty="0"/>
              <a:t>Course Brief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3"/>
          <p:cNvSpPr>
            <a:spLocks noGrp="1" noChangeArrowheads="1"/>
          </p:cNvSpPr>
          <p:nvPr>
            <p:ph idx="1"/>
          </p:nvPr>
        </p:nvSpPr>
        <p:spPr/>
        <p:txBody>
          <a:bodyPr/>
          <a:lstStyle/>
          <a:p>
            <a:pPr eaLnBrk="1" hangingPunct="1"/>
            <a:r>
              <a:rPr lang="en-US" sz="2800" b="1" dirty="0">
                <a:cs typeface="Times New Roman" pitchFamily="18" charset="0"/>
              </a:rPr>
              <a:t>Instructors:</a:t>
            </a:r>
            <a:r>
              <a:rPr lang="en-US" sz="2800" dirty="0">
                <a:cs typeface="Times New Roman" pitchFamily="18" charset="0"/>
              </a:rPr>
              <a:t>  Dr. Rogers (CD)</a:t>
            </a:r>
          </a:p>
          <a:p>
            <a:r>
              <a:rPr lang="en-US" sz="2800" b="1" dirty="0">
                <a:cs typeface="Times New Roman" pitchFamily="18" charset="0"/>
              </a:rPr>
              <a:t>Required Textbooks:</a:t>
            </a:r>
            <a:r>
              <a:rPr lang="en-US" sz="2800" dirty="0">
                <a:cs typeface="Times New Roman" pitchFamily="18" charset="0"/>
              </a:rPr>
              <a:t> </a:t>
            </a:r>
            <a:r>
              <a:rPr lang="en-US" sz="2800" i="1" dirty="0">
                <a:cs typeface="Times New Roman" pitchFamily="18" charset="0"/>
              </a:rPr>
              <a:t>Electromagnetics, Steven W. Ellingson (E-book only)</a:t>
            </a:r>
            <a:endParaRPr lang="en-US" sz="2800" dirty="0">
              <a:cs typeface="Times New Roman" pitchFamily="18" charset="0"/>
            </a:endParaRPr>
          </a:p>
          <a:p>
            <a:pPr eaLnBrk="1" hangingPunct="1"/>
            <a:r>
              <a:rPr lang="en-US" sz="2800" b="1" dirty="0">
                <a:cs typeface="Times New Roman" pitchFamily="18" charset="0"/>
              </a:rPr>
              <a:t>Required References:</a:t>
            </a:r>
            <a:r>
              <a:rPr lang="en-US" sz="2800" dirty="0">
                <a:cs typeface="Times New Roman" pitchFamily="18" charset="0"/>
              </a:rPr>
              <a:t> None</a:t>
            </a:r>
            <a:endParaRPr lang="en-US" dirty="0">
              <a:cs typeface="Times New Roman" pitchFamily="18" charset="0"/>
            </a:endParaRPr>
          </a:p>
          <a:p>
            <a:pPr eaLnBrk="1" hangingPunct="1"/>
            <a:r>
              <a:rPr lang="en-US" sz="2800" b="1" dirty="0">
                <a:cs typeface="Times New Roman" pitchFamily="18" charset="0"/>
              </a:rPr>
              <a:t>Number of Sections/Cadets:</a:t>
            </a:r>
            <a:r>
              <a:rPr lang="en-US" sz="2800" dirty="0">
                <a:cs typeface="Times New Roman" pitchFamily="18" charset="0"/>
              </a:rPr>
              <a:t>  2/39 (?)</a:t>
            </a:r>
          </a:p>
        </p:txBody>
      </p:sp>
      <p:sp>
        <p:nvSpPr>
          <p:cNvPr id="2050" name="Slide Number Placeholder 5"/>
          <p:cNvSpPr>
            <a:spLocks noGrp="1"/>
          </p:cNvSpPr>
          <p:nvPr>
            <p:ph type="sldNum" sz="quarter" idx="10"/>
          </p:nvPr>
        </p:nvSpPr>
        <p:spPr>
          <a:prstGeom prst="rect">
            <a:avLst/>
          </a:prstGeom>
          <a:noFill/>
        </p:spPr>
        <p:txBody>
          <a:bodyPr/>
          <a:lstStyle/>
          <a:p>
            <a:fld id="{A9F5F334-7040-4467-868A-5EC6F0464B27}" type="slidenum">
              <a:rPr lang="en-US" smtClean="0"/>
              <a:pPr/>
              <a:t>2</a:t>
            </a:fld>
            <a:endParaRPr lang="en-US"/>
          </a:p>
        </p:txBody>
      </p:sp>
      <p:sp>
        <p:nvSpPr>
          <p:cNvPr id="12" name="Rectangle 2"/>
          <p:cNvSpPr txBox="1">
            <a:spLocks noChangeArrowheads="1"/>
          </p:cNvSpPr>
          <p:nvPr/>
        </p:nvSpPr>
        <p:spPr bwMode="auto">
          <a:xfrm>
            <a:off x="2016760" y="120650"/>
            <a:ext cx="705485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3200" b="1" i="1" u="none" strike="noStrike" kern="0" cap="none" spc="0" normalizeH="0" baseline="0" noProof="0" dirty="0">
                <a:ln>
                  <a:noFill/>
                </a:ln>
                <a:solidFill>
                  <a:srgbClr val="0C2D83"/>
                </a:solidFill>
                <a:effectLst/>
                <a:uLnTx/>
                <a:uFillTx/>
                <a:latin typeface="+mj-lt"/>
                <a:ea typeface="+mj-ea"/>
                <a:cs typeface="+mj-cs"/>
              </a:rPr>
              <a:t>Administrative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sz="3200" i="1" dirty="0"/>
              <a:t>Course Goals</a:t>
            </a:r>
          </a:p>
        </p:txBody>
      </p:sp>
      <p:sp>
        <p:nvSpPr>
          <p:cNvPr id="3076" name="Rectangle 3"/>
          <p:cNvSpPr>
            <a:spLocks noGrp="1" noChangeArrowheads="1"/>
          </p:cNvSpPr>
          <p:nvPr>
            <p:ph idx="1"/>
          </p:nvPr>
        </p:nvSpPr>
        <p:spPr/>
        <p:txBody>
          <a:bodyPr/>
          <a:lstStyle/>
          <a:p>
            <a:pPr>
              <a:buNone/>
            </a:pPr>
            <a:r>
              <a:rPr lang="en-US" sz="2800" dirty="0"/>
              <a:t>Cadets enrolled in the course shall develop the ability to analyze and understand electrostatics, magnetostatics, and electromagnetic wave propagation and their roles in modern electronic systems.</a:t>
            </a:r>
          </a:p>
        </p:txBody>
      </p:sp>
      <p:sp>
        <p:nvSpPr>
          <p:cNvPr id="3074" name="Slide Number Placeholder 5"/>
          <p:cNvSpPr>
            <a:spLocks noGrp="1"/>
          </p:cNvSpPr>
          <p:nvPr>
            <p:ph type="sldNum" sz="quarter" idx="10"/>
          </p:nvPr>
        </p:nvSpPr>
        <p:spPr>
          <a:prstGeom prst="rect">
            <a:avLst/>
          </a:prstGeom>
          <a:noFill/>
        </p:spPr>
        <p:txBody>
          <a:bodyPr/>
          <a:lstStyle/>
          <a:p>
            <a:fld id="{85E5AA19-49F7-40EF-9388-C4FC8EAC283B}" type="slidenum">
              <a:rPr lang="en-US" smtClean="0"/>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sz="3200" b="1" i="1" dirty="0"/>
              <a:t>Course Objectives</a:t>
            </a:r>
          </a:p>
        </p:txBody>
      </p:sp>
      <p:sp>
        <p:nvSpPr>
          <p:cNvPr id="4100" name="Rectangle 3"/>
          <p:cNvSpPr>
            <a:spLocks noGrp="1" noChangeArrowheads="1"/>
          </p:cNvSpPr>
          <p:nvPr>
            <p:ph idx="1"/>
          </p:nvPr>
        </p:nvSpPr>
        <p:spPr>
          <a:xfrm>
            <a:off x="384175" y="1517846"/>
            <a:ext cx="8383588" cy="4740275"/>
          </a:xfrm>
        </p:spPr>
        <p:txBody>
          <a:bodyPr/>
          <a:lstStyle/>
          <a:p>
            <a:pPr marL="609600" indent="-609600">
              <a:buFontTx/>
              <a:buAutoNum type="arabicPeriod"/>
            </a:pPr>
            <a:r>
              <a:rPr lang="en-US" dirty="0"/>
              <a:t>Apply their knowledge of electromagnetic fields to solve transmission-line problems, including impedance matching techniques, using circuit parameters and the Smith chart. </a:t>
            </a:r>
          </a:p>
          <a:p>
            <a:pPr marL="609600" indent="-609600">
              <a:buFontTx/>
              <a:buAutoNum type="arabicPeriod"/>
            </a:pPr>
            <a:r>
              <a:rPr lang="en-US" dirty="0"/>
              <a:t>Explain the meaning of Maxwell’s equations, in both static and dynamic situations and apply them to the study of electromagnetics.</a:t>
            </a:r>
          </a:p>
          <a:p>
            <a:pPr marL="609600" indent="-609600">
              <a:buFontTx/>
              <a:buAutoNum type="arabicPeriod"/>
            </a:pPr>
            <a:r>
              <a:rPr lang="en-US" dirty="0"/>
              <a:t>Apply the engineering problem solving method to set-up and solve electrostatic, </a:t>
            </a:r>
            <a:r>
              <a:rPr lang="en-US" dirty="0" err="1"/>
              <a:t>magnetostatic</a:t>
            </a:r>
            <a:r>
              <a:rPr lang="en-US" dirty="0"/>
              <a:t>, and electromagnetic energy propagation problems.</a:t>
            </a:r>
          </a:p>
        </p:txBody>
      </p:sp>
      <p:sp>
        <p:nvSpPr>
          <p:cNvPr id="4098" name="Slide Number Placeholder 5"/>
          <p:cNvSpPr>
            <a:spLocks noGrp="1"/>
          </p:cNvSpPr>
          <p:nvPr>
            <p:ph type="sldNum" sz="quarter" idx="10"/>
          </p:nvPr>
        </p:nvSpPr>
        <p:spPr>
          <a:prstGeom prst="rect">
            <a:avLst/>
          </a:prstGeom>
          <a:noFill/>
        </p:spPr>
        <p:txBody>
          <a:bodyPr/>
          <a:lstStyle/>
          <a:p>
            <a:fld id="{B76D1C75-FBEC-4E5D-9CB3-4B7A6CB91323}"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4"/>
          <p:cNvSpPr>
            <a:spLocks noGrp="1" noChangeArrowheads="1"/>
          </p:cNvSpPr>
          <p:nvPr>
            <p:ph type="title"/>
          </p:nvPr>
        </p:nvSpPr>
        <p:spPr/>
        <p:txBody>
          <a:bodyPr/>
          <a:lstStyle/>
          <a:p>
            <a:pPr eaLnBrk="1" hangingPunct="1"/>
            <a:r>
              <a:rPr lang="en-US" sz="3200" b="1" i="1"/>
              <a:t>Prerequisites by Topic and Course</a:t>
            </a:r>
            <a:r>
              <a:rPr lang="en-US"/>
              <a:t> </a:t>
            </a:r>
          </a:p>
        </p:txBody>
      </p:sp>
      <p:graphicFrame>
        <p:nvGraphicFramePr>
          <p:cNvPr id="6243" name="Group 99"/>
          <p:cNvGraphicFramePr>
            <a:graphicFrameLocks noGrp="1"/>
          </p:cNvGraphicFramePr>
          <p:nvPr>
            <p:ph idx="1"/>
            <p:extLst>
              <p:ext uri="{D42A27DB-BD31-4B8C-83A1-F6EECF244321}">
                <p14:modId xmlns:p14="http://schemas.microsoft.com/office/powerpoint/2010/main" val="2017494626"/>
              </p:ext>
            </p:extLst>
          </p:nvPr>
        </p:nvGraphicFramePr>
        <p:xfrm>
          <a:off x="369661" y="2233386"/>
          <a:ext cx="8383588" cy="1706880"/>
        </p:xfrm>
        <a:graphic>
          <a:graphicData uri="http://schemas.openxmlformats.org/drawingml/2006/table">
            <a:tbl>
              <a:tblPr/>
              <a:tblGrid>
                <a:gridCol w="1561649">
                  <a:extLst>
                    <a:ext uri="{9D8B030D-6E8A-4147-A177-3AD203B41FA5}">
                      <a16:colId xmlns:a16="http://schemas.microsoft.com/office/drawing/2014/main" val="20000"/>
                    </a:ext>
                  </a:extLst>
                </a:gridCol>
                <a:gridCol w="6821939">
                  <a:extLst>
                    <a:ext uri="{9D8B030D-6E8A-4147-A177-3AD203B41FA5}">
                      <a16:colId xmlns:a16="http://schemas.microsoft.com/office/drawing/2014/main" val="20001"/>
                    </a:ext>
                  </a:extLst>
                </a:gridCol>
              </a:tblGrid>
              <a:tr h="512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rPr>
                        <a:t>Physics 215</a:t>
                      </a:r>
                    </a:p>
                  </a:txBody>
                  <a:tcPr marL="98630" marR="986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rPr>
                        <a:t>Coulomb, Faraday, Ampere, and Gauss’ laws for electrostatics and wave motion</a:t>
                      </a:r>
                    </a:p>
                  </a:txBody>
                  <a:tcPr marL="98630" marR="986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rPr>
                        <a:t>ECE 346</a:t>
                      </a:r>
                    </a:p>
                  </a:txBody>
                  <a:tcPr marL="98630" marR="986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rPr>
                        <a:t>Vector calculus: divergence, gradient, curl, divergence theorem, </a:t>
                      </a:r>
                      <a:r>
                        <a:rPr kumimoji="0" lang="en-US" sz="2000" b="0" i="0" u="none" strike="noStrike" cap="none" normalizeH="0" baseline="0" dirty="0" err="1">
                          <a:ln>
                            <a:noFill/>
                          </a:ln>
                          <a:solidFill>
                            <a:schemeClr val="tx1"/>
                          </a:solidFill>
                          <a:effectLst/>
                          <a:latin typeface="Times New Roman" pitchFamily="18" charset="0"/>
                        </a:rPr>
                        <a:t>Stoke’s</a:t>
                      </a:r>
                      <a:r>
                        <a:rPr kumimoji="0" lang="en-US" sz="2000" b="0" i="0" u="none" strike="noStrike" cap="none" normalizeH="0" baseline="0" dirty="0">
                          <a:ln>
                            <a:noFill/>
                          </a:ln>
                          <a:solidFill>
                            <a:schemeClr val="tx1"/>
                          </a:solidFill>
                          <a:effectLst/>
                          <a:latin typeface="Times New Roman" pitchFamily="18" charset="0"/>
                        </a:rPr>
                        <a:t> theorem, partial differential equations (separation of variables)</a:t>
                      </a:r>
                    </a:p>
                  </a:txBody>
                  <a:tcPr marL="98630" marR="986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242" name="Slide Number Placeholder 5"/>
          <p:cNvSpPr>
            <a:spLocks noGrp="1"/>
          </p:cNvSpPr>
          <p:nvPr>
            <p:ph type="sldNum" sz="quarter" idx="10"/>
          </p:nvPr>
        </p:nvSpPr>
        <p:spPr>
          <a:noFill/>
        </p:spPr>
        <p:txBody>
          <a:bodyPr/>
          <a:lstStyle/>
          <a:p>
            <a:fld id="{D606CFC6-1681-4E9F-A954-C3E2AEEDAC56}" type="slidenum">
              <a:rPr lang="en-US" smtClean="0"/>
              <a:pPr/>
              <a:t>5</a:t>
            </a:fld>
            <a:endParaRPr lang="en-US"/>
          </a:p>
        </p:txBody>
      </p:sp>
      <p:sp>
        <p:nvSpPr>
          <p:cNvPr id="10244" name="Rectangle 5"/>
          <p:cNvSpPr>
            <a:spLocks noGrp="1" noChangeArrowheads="1"/>
          </p:cNvSpPr>
          <p:nvPr>
            <p:ph type="body" idx="4294967295"/>
          </p:nvPr>
        </p:nvSpPr>
        <p:spPr>
          <a:xfrm>
            <a:off x="0" y="1752600"/>
            <a:ext cx="7924800" cy="609600"/>
          </a:xfrm>
        </p:spPr>
        <p:txBody>
          <a:bodyPr/>
          <a:lstStyle/>
          <a:p>
            <a:pPr eaLnBrk="1" hangingPunct="1"/>
            <a:r>
              <a:rPr lang="en-US" sz="2400" dirty="0"/>
              <a:t>Course Prerequisites by Topic</a:t>
            </a:r>
          </a:p>
          <a:p>
            <a:pPr eaLnBrk="1" hangingPunct="1"/>
            <a:endParaRPr lang="en-US" dirty="0"/>
          </a:p>
          <a:p>
            <a:pPr eaLnBrk="1" hangingPunct="1"/>
            <a:endParaRPr lang="en-US" dirty="0"/>
          </a:p>
          <a:p>
            <a:pPr eaLnBrk="1" hangingPunct="1"/>
            <a:endParaRPr lang="en-US" dirty="0"/>
          </a:p>
          <a:p>
            <a:pPr eaLnBrk="1" hangingPunct="1"/>
            <a:endParaRPr lang="en-US" dirty="0"/>
          </a:p>
          <a:p>
            <a:endParaRPr lang="en-US" dirty="0"/>
          </a:p>
          <a:p>
            <a:endParaRPr lang="en-US" dirty="0"/>
          </a:p>
          <a:p>
            <a:r>
              <a:rPr lang="en-US" dirty="0"/>
              <a:t>Additional Topical Requirements</a:t>
            </a:r>
          </a:p>
        </p:txBody>
      </p:sp>
      <p:graphicFrame>
        <p:nvGraphicFramePr>
          <p:cNvPr id="6242" name="Group 98"/>
          <p:cNvGraphicFramePr>
            <a:graphicFrameLocks noGrp="1"/>
          </p:cNvGraphicFramePr>
          <p:nvPr/>
        </p:nvGraphicFramePr>
        <p:xfrm>
          <a:off x="481184" y="5382722"/>
          <a:ext cx="7772400" cy="457200"/>
        </p:xfrm>
        <a:graphic>
          <a:graphicData uri="http://schemas.openxmlformats.org/drawingml/2006/table">
            <a:tbl>
              <a:tblPr/>
              <a:tblGrid>
                <a:gridCol w="14478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rPr>
                        <a:t>None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sz="3200" b="1" i="1"/>
              <a:t>Checklist Status </a:t>
            </a:r>
          </a:p>
        </p:txBody>
      </p:sp>
      <p:sp>
        <p:nvSpPr>
          <p:cNvPr id="6146" name="Slide Number Placeholder 5"/>
          <p:cNvSpPr>
            <a:spLocks noGrp="1"/>
          </p:cNvSpPr>
          <p:nvPr>
            <p:ph type="sldNum" sz="quarter" idx="10"/>
          </p:nvPr>
        </p:nvSpPr>
        <p:spPr>
          <a:noFill/>
        </p:spPr>
        <p:txBody>
          <a:bodyPr/>
          <a:lstStyle/>
          <a:p>
            <a:fld id="{0647967B-8599-4896-89D5-35A098F6F38C}" type="slidenum">
              <a:rPr lang="en-US" smtClean="0"/>
              <a:pPr/>
              <a:t>6</a:t>
            </a:fld>
            <a:endParaRPr lang="en-US"/>
          </a:p>
        </p:txBody>
      </p:sp>
      <p:graphicFrame>
        <p:nvGraphicFramePr>
          <p:cNvPr id="48265" name="Group 137"/>
          <p:cNvGraphicFramePr>
            <a:graphicFrameLocks noGrp="1"/>
          </p:cNvGraphicFramePr>
          <p:nvPr>
            <p:ph idx="1"/>
            <p:extLst>
              <p:ext uri="{D42A27DB-BD31-4B8C-83A1-F6EECF244321}">
                <p14:modId xmlns:p14="http://schemas.microsoft.com/office/powerpoint/2010/main" val="2019498398"/>
              </p:ext>
            </p:extLst>
          </p:nvPr>
        </p:nvGraphicFramePr>
        <p:xfrm>
          <a:off x="384175" y="1320800"/>
          <a:ext cx="8383588" cy="5537200"/>
        </p:xfrm>
        <a:graphic>
          <a:graphicData uri="http://schemas.openxmlformats.org/drawingml/2006/table">
            <a:tbl>
              <a:tblPr/>
              <a:tblGrid>
                <a:gridCol w="6467340">
                  <a:extLst>
                    <a:ext uri="{9D8B030D-6E8A-4147-A177-3AD203B41FA5}">
                      <a16:colId xmlns:a16="http://schemas.microsoft.com/office/drawing/2014/main" val="20000"/>
                    </a:ext>
                  </a:extLst>
                </a:gridCol>
                <a:gridCol w="1916248">
                  <a:extLst>
                    <a:ext uri="{9D8B030D-6E8A-4147-A177-3AD203B41FA5}">
                      <a16:colId xmlns:a16="http://schemas.microsoft.com/office/drawing/2014/main" val="20001"/>
                    </a:ext>
                  </a:extLst>
                </a:gridCol>
              </a:tblGrid>
              <a:tr h="4652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Reviewed objectives with previous CD?</a:t>
                      </a:r>
                      <a:endParaRPr kumimoji="0" lang="en-US" sz="2400" b="0" i="1" u="none" strike="noStrike" cap="none" normalizeH="0" baseline="0" dirty="0">
                        <a:ln>
                          <a:noFill/>
                        </a:ln>
                        <a:solidFill>
                          <a:schemeClr val="tx1"/>
                        </a:solidFill>
                        <a:effectLst/>
                        <a:latin typeface="Times New Roman" pitchFamily="18" charset="0"/>
                        <a:cs typeface="Times New Roman" pitchFamily="18" charset="0"/>
                      </a:endParaRP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Y</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652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Reviewed the Curriculum Handbook description?</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000000"/>
                          </a:solidFill>
                          <a:effectLst/>
                          <a:latin typeface="Times New Roman" pitchFamily="18" charset="0"/>
                        </a:rPr>
                        <a:t>Y</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522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the Course Assessment Plan?</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400" b="1" i="1" u="none" strike="noStrike" cap="none" normalizeH="0" baseline="0" dirty="0">
                          <a:ln>
                            <a:noFill/>
                          </a:ln>
                          <a:solidFill>
                            <a:srgbClr val="000000"/>
                          </a:solidFill>
                          <a:effectLst/>
                          <a:latin typeface="Times New Roman" pitchFamily="18" charset="0"/>
                        </a:rPr>
                        <a:t>Y</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6522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the latest Course Assessment Report?</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000000"/>
                          </a:solidFill>
                          <a:effectLst/>
                          <a:latin typeface="Times New Roman" pitchFamily="18" charset="0"/>
                          <a:cs typeface="Times New Roman" pitchFamily="18" charset="0"/>
                        </a:rPr>
                        <a:t>Y</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65228">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the latest Course Log?</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000000"/>
                          </a:solidFill>
                          <a:effectLst/>
                          <a:latin typeface="Times New Roman" pitchFamily="18" charset="0"/>
                        </a:rPr>
                        <a:t>Y</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20959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Created course folder on Teams DFEC General\Courses\ for the current semester?  (For storing GRs, quizzes, grades, etc.)</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000000"/>
                          </a:solidFill>
                          <a:effectLst/>
                          <a:latin typeface="Times New Roman" pitchFamily="18" charset="0"/>
                        </a:rPr>
                        <a:t>Y</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003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Developed syllabus &amp; admin notes?</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000000"/>
                          </a:solidFill>
                          <a:effectLst/>
                          <a:latin typeface="Times New Roman" pitchFamily="18" charset="0"/>
                        </a:rPr>
                        <a:t>Y</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003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Prepared exams for the semester?</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tx1"/>
                          </a:solidFill>
                          <a:effectLst/>
                          <a:latin typeface="Times New Roman" pitchFamily="18" charset="0"/>
                        </a:rPr>
                        <a:t>N</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50036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lecture notes, lab write-ups?</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000000"/>
                          </a:solidFill>
                          <a:effectLst/>
                          <a:latin typeface="Times New Roman" pitchFamily="18" charset="0"/>
                        </a:rPr>
                        <a:t>Y</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5003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Prepared course website?</a:t>
                      </a: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1" u="none" strike="noStrike" cap="none" normalizeH="0" baseline="0" dirty="0">
                          <a:ln>
                            <a:noFill/>
                          </a:ln>
                          <a:solidFill>
                            <a:srgbClr val="FF0000"/>
                          </a:solidFill>
                          <a:effectLst/>
                          <a:latin typeface="Times New Roman" pitchFamily="18" charset="0"/>
                        </a:rPr>
                        <a:t>Teams/</a:t>
                      </a:r>
                      <a:r>
                        <a:rPr kumimoji="0" lang="en-US" sz="2000" b="1" i="1" u="none" strike="noStrike" cap="none" normalizeH="0" baseline="0" dirty="0" err="1">
                          <a:ln>
                            <a:noFill/>
                          </a:ln>
                          <a:solidFill>
                            <a:srgbClr val="FF0000"/>
                          </a:solidFill>
                          <a:effectLst/>
                          <a:latin typeface="Times New Roman" pitchFamily="18" charset="0"/>
                        </a:rPr>
                        <a:t>Github</a:t>
                      </a:r>
                      <a:endParaRPr kumimoji="0" lang="en-US" sz="2000" b="1" i="1" u="none" strike="noStrike" cap="none" normalizeH="0" baseline="0" dirty="0">
                        <a:ln>
                          <a:noFill/>
                        </a:ln>
                        <a:solidFill>
                          <a:srgbClr val="FF0000"/>
                        </a:solidFill>
                        <a:effectLst/>
                        <a:latin typeface="Times New Roman" pitchFamily="18" charset="0"/>
                      </a:endParaRPr>
                    </a:p>
                  </a:txBody>
                  <a:tcPr marL="92296" marR="9229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4"/>
          <p:cNvSpPr>
            <a:spLocks noGrp="1" noChangeArrowheads="1"/>
          </p:cNvSpPr>
          <p:nvPr>
            <p:ph type="title"/>
          </p:nvPr>
        </p:nvSpPr>
        <p:spPr/>
        <p:txBody>
          <a:bodyPr/>
          <a:lstStyle/>
          <a:p>
            <a:pPr eaLnBrk="1" hangingPunct="1"/>
            <a:r>
              <a:rPr lang="en-US" sz="3200" b="1" i="1"/>
              <a:t>Course Topics</a:t>
            </a:r>
          </a:p>
        </p:txBody>
      </p:sp>
      <p:graphicFrame>
        <p:nvGraphicFramePr>
          <p:cNvPr id="8337" name="Group 145"/>
          <p:cNvGraphicFramePr>
            <a:graphicFrameLocks noGrp="1"/>
          </p:cNvGraphicFramePr>
          <p:nvPr>
            <p:ph idx="1"/>
            <p:extLst>
              <p:ext uri="{D42A27DB-BD31-4B8C-83A1-F6EECF244321}">
                <p14:modId xmlns:p14="http://schemas.microsoft.com/office/powerpoint/2010/main" val="4106482068"/>
              </p:ext>
            </p:extLst>
          </p:nvPr>
        </p:nvGraphicFramePr>
        <p:xfrm>
          <a:off x="384175" y="1536700"/>
          <a:ext cx="8383588" cy="3993199"/>
        </p:xfrm>
        <a:graphic>
          <a:graphicData uri="http://schemas.openxmlformats.org/drawingml/2006/table">
            <a:tbl>
              <a:tblPr/>
              <a:tblGrid>
                <a:gridCol w="6410979">
                  <a:extLst>
                    <a:ext uri="{9D8B030D-6E8A-4147-A177-3AD203B41FA5}">
                      <a16:colId xmlns:a16="http://schemas.microsoft.com/office/drawing/2014/main" val="20000"/>
                    </a:ext>
                  </a:extLst>
                </a:gridCol>
                <a:gridCol w="1972609">
                  <a:extLst>
                    <a:ext uri="{9D8B030D-6E8A-4147-A177-3AD203B41FA5}">
                      <a16:colId xmlns:a16="http://schemas.microsoft.com/office/drawing/2014/main" val="20001"/>
                    </a:ext>
                  </a:extLst>
                </a:gridCol>
              </a:tblGrid>
              <a:tr h="8556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Introduction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 Lesson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Transmission Lines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13 Lessons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70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Electrostatics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9 Lessons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0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Magnetostatics</a:t>
                      </a:r>
                      <a:endParaRPr kumimoji="0" lang="en-US" sz="2800" b="0" i="0" u="none" strike="noStrike" cap="none" normalizeH="0" baseline="0" dirty="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5 Lessons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0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Dynamic Fields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2 Lessons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11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Plane Waves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8 Lessons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266" name="Slide Number Placeholder 5"/>
          <p:cNvSpPr>
            <a:spLocks noGrp="1"/>
          </p:cNvSpPr>
          <p:nvPr>
            <p:ph type="sldNum" sz="quarter" idx="10"/>
          </p:nvPr>
        </p:nvSpPr>
        <p:spPr>
          <a:noFill/>
        </p:spPr>
        <p:txBody>
          <a:bodyPr/>
          <a:lstStyle/>
          <a:p>
            <a:fld id="{CEC46FDC-44FA-464D-A2D3-8763E6EC43A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sz="3200" b="1" i="1" dirty="0">
                <a:cs typeface="Times New Roman" pitchFamily="18" charset="0"/>
              </a:rPr>
              <a:t>Grading</a:t>
            </a:r>
          </a:p>
        </p:txBody>
      </p:sp>
      <p:graphicFrame>
        <p:nvGraphicFramePr>
          <p:cNvPr id="41028" name="Group 68"/>
          <p:cNvGraphicFramePr>
            <a:graphicFrameLocks noGrp="1"/>
          </p:cNvGraphicFramePr>
          <p:nvPr>
            <p:ph idx="1"/>
            <p:extLst>
              <p:ext uri="{D42A27DB-BD31-4B8C-83A1-F6EECF244321}">
                <p14:modId xmlns:p14="http://schemas.microsoft.com/office/powerpoint/2010/main" val="2339535269"/>
              </p:ext>
            </p:extLst>
          </p:nvPr>
        </p:nvGraphicFramePr>
        <p:xfrm>
          <a:off x="384175" y="1569952"/>
          <a:ext cx="8383588" cy="2757805"/>
        </p:xfrm>
        <a:graphic>
          <a:graphicData uri="http://schemas.openxmlformats.org/drawingml/2006/table">
            <a:tbl>
              <a:tblPr/>
              <a:tblGrid>
                <a:gridCol w="4588911">
                  <a:extLst>
                    <a:ext uri="{9D8B030D-6E8A-4147-A177-3AD203B41FA5}">
                      <a16:colId xmlns:a16="http://schemas.microsoft.com/office/drawing/2014/main" val="20000"/>
                    </a:ext>
                  </a:extLst>
                </a:gridCol>
                <a:gridCol w="2029711">
                  <a:extLst>
                    <a:ext uri="{9D8B030D-6E8A-4147-A177-3AD203B41FA5}">
                      <a16:colId xmlns:a16="http://schemas.microsoft.com/office/drawing/2014/main" val="20001"/>
                    </a:ext>
                  </a:extLst>
                </a:gridCol>
                <a:gridCol w="1764966">
                  <a:extLst>
                    <a:ext uri="{9D8B030D-6E8A-4147-A177-3AD203B41FA5}">
                      <a16:colId xmlns:a16="http://schemas.microsoft.com/office/drawing/2014/main" val="20002"/>
                    </a:ext>
                  </a:extLst>
                </a:gridCol>
              </a:tblGrid>
              <a:tr h="593725">
                <a:tc>
                  <a:txBody>
                    <a:bodyPr/>
                    <a:lstStyle/>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itchFamily="18" charset="0"/>
                          <a:cs typeface="Times New Roman" pitchFamily="18" charset="0"/>
                        </a:rPr>
                        <a:t>Assessment Tool</a:t>
                      </a:r>
                    </a:p>
                  </a:txBody>
                  <a:tcPr marL="105898" marR="105898"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rPr>
                        <a:t>Prog</a:t>
                      </a:r>
                    </a:p>
                  </a:txBody>
                  <a:tcPr marL="105898" marR="105898"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rPr>
                        <a:t>Final</a:t>
                      </a:r>
                    </a:p>
                  </a:txBody>
                  <a:tcPr marL="0" marR="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Assessments</a:t>
                      </a:r>
                    </a:p>
                  </a:txBody>
                  <a:tcPr marL="105898" marR="10589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50%</a:t>
                      </a:r>
                    </a:p>
                  </a:txBody>
                  <a:tcPr marL="105898" marR="1058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40%</a:t>
                      </a:r>
                    </a:p>
                  </a:txBody>
                  <a:tcPr marL="105898" marR="10589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0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Engagement </a:t>
                      </a:r>
                    </a:p>
                  </a:txBody>
                  <a:tcPr marL="105898" marR="10589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25%</a:t>
                      </a:r>
                    </a:p>
                  </a:txBody>
                  <a:tcPr marL="105898" marR="1058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15%</a:t>
                      </a:r>
                    </a:p>
                  </a:txBody>
                  <a:tcPr marL="105898" marR="10589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4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GRs</a:t>
                      </a:r>
                      <a:endParaRPr kumimoji="0" lang="en-US" sz="2800" b="0" i="0" u="none" strike="noStrike" cap="none" normalizeH="0" baseline="0" dirty="0">
                        <a:ln>
                          <a:noFill/>
                        </a:ln>
                        <a:solidFill>
                          <a:schemeClr val="tx1"/>
                        </a:solidFill>
                        <a:effectLst/>
                        <a:latin typeface="Times New Roman" pitchFamily="18" charset="0"/>
                      </a:endParaRPr>
                    </a:p>
                  </a:txBody>
                  <a:tcPr marL="105898" marR="10589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25% (1)</a:t>
                      </a:r>
                    </a:p>
                  </a:txBody>
                  <a:tcPr marL="105898" marR="1058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20% (3)</a:t>
                      </a:r>
                    </a:p>
                  </a:txBody>
                  <a:tcPr marL="105898" marR="10589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Final Exam</a:t>
                      </a:r>
                    </a:p>
                  </a:txBody>
                  <a:tcPr marL="105898" marR="10589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a:txBody>
                  <a:tcPr marL="105898" marR="1058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25%</a:t>
                      </a:r>
                    </a:p>
                  </a:txBody>
                  <a:tcPr marL="105898" marR="10589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3314" name="Slide Number Placeholder 5"/>
          <p:cNvSpPr>
            <a:spLocks noGrp="1"/>
          </p:cNvSpPr>
          <p:nvPr>
            <p:ph type="sldNum" sz="quarter" idx="10"/>
          </p:nvPr>
        </p:nvSpPr>
        <p:spPr>
          <a:noFill/>
        </p:spPr>
        <p:txBody>
          <a:bodyPr/>
          <a:lstStyle/>
          <a:p>
            <a:fld id="{8B44C807-5B8A-4A4B-821F-59BEA3C443D6}" type="slidenum">
              <a:rPr lang="en-US" smtClean="0"/>
              <a:pPr/>
              <a:t>8</a:t>
            </a:fld>
            <a:endParaRPr lang="en-US"/>
          </a:p>
        </p:txBody>
      </p:sp>
      <p:sp>
        <p:nvSpPr>
          <p:cNvPr id="2" name="TextBox 1">
            <a:extLst>
              <a:ext uri="{FF2B5EF4-FFF2-40B4-BE49-F238E27FC236}">
                <a16:creationId xmlns:a16="http://schemas.microsoft.com/office/drawing/2014/main" id="{C8754110-0A96-8EDD-0664-DE8B81077EE9}"/>
              </a:ext>
            </a:extLst>
          </p:cNvPr>
          <p:cNvSpPr txBox="1"/>
          <p:nvPr/>
        </p:nvSpPr>
        <p:spPr>
          <a:xfrm>
            <a:off x="457200" y="4588625"/>
            <a:ext cx="8013469" cy="1754326"/>
          </a:xfrm>
          <a:prstGeom prst="rect">
            <a:avLst/>
          </a:prstGeom>
          <a:noFill/>
        </p:spPr>
        <p:txBody>
          <a:bodyPr wrap="square" rtlCol="0">
            <a:spAutoFit/>
          </a:bodyPr>
          <a:lstStyle/>
          <a:p>
            <a:pPr marL="285750" indent="-285750" algn="l">
              <a:buFont typeface="Arial" panose="020B0604020202020204" pitchFamily="34" charset="0"/>
              <a:buChar char="•"/>
            </a:pPr>
            <a:r>
              <a:rPr lang="en-US" sz="1800" b="1" dirty="0"/>
              <a:t>Assessments: </a:t>
            </a:r>
            <a:r>
              <a:rPr lang="en-US" sz="1800" dirty="0"/>
              <a:t>in-depth assessment problems that assess each specific learning objective, as defined in the syllabus (34 total for this course). Binary grading, with revision allowed for full credit.</a:t>
            </a:r>
          </a:p>
          <a:p>
            <a:pPr marL="285750" indent="-285750" algn="l">
              <a:buFont typeface="Arial" panose="020B0604020202020204" pitchFamily="34" charset="0"/>
              <a:buChar char="•"/>
            </a:pPr>
            <a:r>
              <a:rPr lang="en-US" sz="1800" b="1" dirty="0"/>
              <a:t>Engagement credit: </a:t>
            </a:r>
            <a:r>
              <a:rPr lang="en-US" sz="1800" dirty="0"/>
              <a:t>Can be earned through doing practice problems, EI, and a research paper. </a:t>
            </a:r>
          </a:p>
          <a:p>
            <a:pPr marL="285750" indent="-285750" algn="l">
              <a:buFont typeface="Arial" panose="020B0604020202020204" pitchFamily="34" charset="0"/>
              <a:buChar char="•"/>
            </a:pPr>
            <a:r>
              <a:rPr lang="en-US" sz="1800" b="1" dirty="0"/>
              <a:t>GR and Final: </a:t>
            </a:r>
            <a:r>
              <a:rPr lang="en-US" sz="1800" dirty="0"/>
              <a:t>Traditional exam, but graded by specification (0,0.5,1)</a:t>
            </a:r>
            <a:endParaRPr lang="en-US" sz="1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a:effectLst/>
        </p:spPr>
        <p:txBody>
          <a:bodyPr vert="horz" wrap="square" lIns="91440" tIns="45720" rIns="91440" bIns="45720" numCol="1" anchor="ctr" anchorCtr="0" compatLnSpc="1">
            <a:prstTxWarp prst="textNoShape">
              <a:avLst/>
            </a:prstTxWarp>
          </a:bodyPr>
          <a:lstStyle/>
          <a:p>
            <a:r>
              <a:rPr lang="en-US" sz="3200" i="1" dirty="0">
                <a:cs typeface="Times New Roman" pitchFamily="18" charset="0"/>
              </a:rPr>
              <a:t>PCO Assessment</a:t>
            </a:r>
          </a:p>
        </p:txBody>
      </p:sp>
      <p:sp>
        <p:nvSpPr>
          <p:cNvPr id="4" name="Slide Number Placeholder 3"/>
          <p:cNvSpPr>
            <a:spLocks noGrp="1"/>
          </p:cNvSpPr>
          <p:nvPr>
            <p:ph type="sldNum" sz="quarter" idx="10"/>
          </p:nvPr>
        </p:nvSpPr>
        <p:spPr/>
        <p:txBody>
          <a:bodyPr/>
          <a:lstStyle/>
          <a:p>
            <a:fld id="{B3EB24CA-5395-47FC-B9F9-D52B42541625}" type="slidenum">
              <a:rPr lang="en-US" smtClean="0"/>
              <a:pPr/>
              <a:t>9</a:t>
            </a:fld>
            <a:endParaRPr lang="en-US" dirty="0"/>
          </a:p>
        </p:txBody>
      </p:sp>
      <p:sp>
        <p:nvSpPr>
          <p:cNvPr id="6" name="TextBox 5"/>
          <p:cNvSpPr txBox="1"/>
          <p:nvPr/>
        </p:nvSpPr>
        <p:spPr>
          <a:xfrm>
            <a:off x="806973" y="5767982"/>
            <a:ext cx="7628477" cy="923330"/>
          </a:xfrm>
          <a:prstGeom prst="rect">
            <a:avLst/>
          </a:prstGeom>
          <a:noFill/>
        </p:spPr>
        <p:txBody>
          <a:bodyPr wrap="square" rtlCol="0">
            <a:spAutoFit/>
          </a:bodyPr>
          <a:lstStyle/>
          <a:p>
            <a:r>
              <a:rPr lang="en-US" sz="1800" dirty="0"/>
              <a:t>All PCOs will be evaluated on a straight average of the Course Objectives that support them.</a:t>
            </a:r>
          </a:p>
          <a:p>
            <a:endParaRPr lang="en-US" sz="1800" dirty="0"/>
          </a:p>
        </p:txBody>
      </p:sp>
      <p:graphicFrame>
        <p:nvGraphicFramePr>
          <p:cNvPr id="8" name="Content Placeholder 7">
            <a:extLst>
              <a:ext uri="{FF2B5EF4-FFF2-40B4-BE49-F238E27FC236}">
                <a16:creationId xmlns:a16="http://schemas.microsoft.com/office/drawing/2014/main" id="{EA5B14A0-BEDC-44CB-86C8-09D6BD388797}"/>
              </a:ext>
            </a:extLst>
          </p:cNvPr>
          <p:cNvGraphicFramePr>
            <a:graphicFrameLocks noGrp="1"/>
          </p:cNvGraphicFramePr>
          <p:nvPr>
            <p:ph idx="1"/>
            <p:extLst>
              <p:ext uri="{D42A27DB-BD31-4B8C-83A1-F6EECF244321}">
                <p14:modId xmlns:p14="http://schemas.microsoft.com/office/powerpoint/2010/main" val="2483365837"/>
              </p:ext>
            </p:extLst>
          </p:nvPr>
        </p:nvGraphicFramePr>
        <p:xfrm>
          <a:off x="384175" y="1536700"/>
          <a:ext cx="8474074" cy="3905263"/>
        </p:xfrm>
        <a:graphic>
          <a:graphicData uri="http://schemas.openxmlformats.org/drawingml/2006/table">
            <a:tbl>
              <a:tblPr/>
              <a:tblGrid>
                <a:gridCol w="2276617">
                  <a:extLst>
                    <a:ext uri="{9D8B030D-6E8A-4147-A177-3AD203B41FA5}">
                      <a16:colId xmlns:a16="http://schemas.microsoft.com/office/drawing/2014/main" val="972315785"/>
                    </a:ext>
                  </a:extLst>
                </a:gridCol>
                <a:gridCol w="885351">
                  <a:extLst>
                    <a:ext uri="{9D8B030D-6E8A-4147-A177-3AD203B41FA5}">
                      <a16:colId xmlns:a16="http://schemas.microsoft.com/office/drawing/2014/main" val="3464871726"/>
                    </a:ext>
                  </a:extLst>
                </a:gridCol>
                <a:gridCol w="885351">
                  <a:extLst>
                    <a:ext uri="{9D8B030D-6E8A-4147-A177-3AD203B41FA5}">
                      <a16:colId xmlns:a16="http://schemas.microsoft.com/office/drawing/2014/main" val="1234245453"/>
                    </a:ext>
                  </a:extLst>
                </a:gridCol>
                <a:gridCol w="885351">
                  <a:extLst>
                    <a:ext uri="{9D8B030D-6E8A-4147-A177-3AD203B41FA5}">
                      <a16:colId xmlns:a16="http://schemas.microsoft.com/office/drawing/2014/main" val="831660637"/>
                    </a:ext>
                  </a:extLst>
                </a:gridCol>
                <a:gridCol w="885351">
                  <a:extLst>
                    <a:ext uri="{9D8B030D-6E8A-4147-A177-3AD203B41FA5}">
                      <a16:colId xmlns:a16="http://schemas.microsoft.com/office/drawing/2014/main" val="43791749"/>
                    </a:ext>
                  </a:extLst>
                </a:gridCol>
                <a:gridCol w="864271">
                  <a:extLst>
                    <a:ext uri="{9D8B030D-6E8A-4147-A177-3AD203B41FA5}">
                      <a16:colId xmlns:a16="http://schemas.microsoft.com/office/drawing/2014/main" val="570264095"/>
                    </a:ext>
                  </a:extLst>
                </a:gridCol>
                <a:gridCol w="906431">
                  <a:extLst>
                    <a:ext uri="{9D8B030D-6E8A-4147-A177-3AD203B41FA5}">
                      <a16:colId xmlns:a16="http://schemas.microsoft.com/office/drawing/2014/main" val="3961871439"/>
                    </a:ext>
                  </a:extLst>
                </a:gridCol>
                <a:gridCol w="885351">
                  <a:extLst>
                    <a:ext uri="{9D8B030D-6E8A-4147-A177-3AD203B41FA5}">
                      <a16:colId xmlns:a16="http://schemas.microsoft.com/office/drawing/2014/main" val="2586485198"/>
                    </a:ext>
                  </a:extLst>
                </a:gridCol>
              </a:tblGrid>
              <a:tr h="3105199">
                <a:tc>
                  <a:txBody>
                    <a:bodyPr/>
                    <a:lstStyle/>
                    <a:p>
                      <a:pPr marL="274320" marR="0" algn="r">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Student</a:t>
                      </a:r>
                      <a:br>
                        <a:rPr lang="en-US" sz="1600" kern="1200" dirty="0">
                          <a:solidFill>
                            <a:srgbClr val="000000"/>
                          </a:solidFill>
                          <a:effectLst/>
                          <a:latin typeface="Times New Roman" panose="02020603050405020304" pitchFamily="18" charset="0"/>
                          <a:ea typeface="Times New Roman" panose="02020603050405020304" pitchFamily="18" charset="0"/>
                        </a:rPr>
                      </a:br>
                      <a:r>
                        <a:rPr lang="en-US" sz="1600" kern="1200" dirty="0">
                          <a:solidFill>
                            <a:srgbClr val="000000"/>
                          </a:solidFill>
                          <a:effectLst/>
                          <a:latin typeface="Times New Roman" panose="02020603050405020304" pitchFamily="18" charset="0"/>
                          <a:ea typeface="Times New Roman" panose="02020603050405020304" pitchFamily="18" charset="0"/>
                        </a:rPr>
                        <a:t>Outcomes (SOs) </a:t>
                      </a:r>
                      <a:endParaRPr lang="en-US" sz="1600" dirty="0">
                        <a:effectLst/>
                        <a:latin typeface="Times New Roman" panose="02020603050405020304" pitchFamily="18" charset="0"/>
                        <a:ea typeface="Calibri" panose="020F0502020204030204" pitchFamily="34" charset="0"/>
                      </a:endParaRPr>
                    </a:p>
                    <a:p>
                      <a:pPr marL="0" marR="0">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Course</a:t>
                      </a:r>
                      <a:br>
                        <a:rPr lang="en-US" sz="1600" kern="1200" dirty="0">
                          <a:solidFill>
                            <a:srgbClr val="000000"/>
                          </a:solidFill>
                          <a:effectLst/>
                          <a:latin typeface="Times New Roman" panose="02020603050405020304" pitchFamily="18" charset="0"/>
                          <a:ea typeface="Times New Roman" panose="02020603050405020304" pitchFamily="18" charset="0"/>
                        </a:rPr>
                      </a:br>
                      <a:r>
                        <a:rPr lang="en-US" sz="1600" kern="1200" dirty="0">
                          <a:solidFill>
                            <a:srgbClr val="000000"/>
                          </a:solidFill>
                          <a:effectLst/>
                          <a:latin typeface="Times New Roman" panose="02020603050405020304" pitchFamily="18" charset="0"/>
                          <a:ea typeface="Times New Roman" panose="02020603050405020304" pitchFamily="18" charset="0"/>
                        </a:rPr>
                        <a:t>Objectives</a:t>
                      </a:r>
                      <a:br>
                        <a:rPr lang="en-US" sz="1600" kern="1200" dirty="0">
                          <a:solidFill>
                            <a:srgbClr val="000000"/>
                          </a:solidFill>
                          <a:effectLst/>
                          <a:latin typeface="Times New Roman" panose="02020603050405020304" pitchFamily="18" charset="0"/>
                          <a:ea typeface="Times New Roman" panose="02020603050405020304" pitchFamily="18" charset="0"/>
                        </a:rPr>
                      </a:br>
                      <a:r>
                        <a:rPr lang="en-US" sz="1600" kern="1200" dirty="0">
                          <a:solidFill>
                            <a:srgbClr val="000000"/>
                          </a:solidFill>
                          <a:effectLst/>
                          <a:latin typeface="Times New Roman" panose="02020603050405020304" pitchFamily="18" charset="0"/>
                          <a:ea typeface="Times New Roman" panose="02020603050405020304" pitchFamily="18" charset="0"/>
                        </a:rPr>
                        <a:t>(COs)</a:t>
                      </a:r>
                      <a:endParaRPr lang="en-US" sz="16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marL="73025" marR="73025">
                        <a:spcBef>
                          <a:spcPts val="0"/>
                        </a:spcBef>
                        <a:spcAft>
                          <a:spcPts val="0"/>
                        </a:spcAft>
                      </a:pPr>
                      <a:r>
                        <a:rPr lang="en-US" sz="1600" b="1" kern="1200" dirty="0">
                          <a:solidFill>
                            <a:srgbClr val="000000"/>
                          </a:solidFill>
                          <a:effectLst/>
                          <a:latin typeface="Times New Roman" panose="02020603050405020304" pitchFamily="18" charset="0"/>
                          <a:ea typeface="Times New Roman" panose="02020603050405020304" pitchFamily="18" charset="0"/>
                        </a:rPr>
                        <a:t>1 – Solve complex </a:t>
                      </a:r>
                      <a:r>
                        <a:rPr lang="en-US" sz="1600" b="1" kern="1200" dirty="0" err="1">
                          <a:solidFill>
                            <a:srgbClr val="000000"/>
                          </a:solidFill>
                          <a:effectLst/>
                          <a:latin typeface="Times New Roman" panose="02020603050405020304" pitchFamily="18" charset="0"/>
                          <a:ea typeface="Times New Roman" panose="02020603050405020304" pitchFamily="18" charset="0"/>
                        </a:rPr>
                        <a:t>engr</a:t>
                      </a:r>
                      <a:r>
                        <a:rPr lang="en-US" sz="1600" b="1" kern="1200" dirty="0">
                          <a:solidFill>
                            <a:srgbClr val="000000"/>
                          </a:solidFill>
                          <a:effectLst/>
                          <a:latin typeface="Times New Roman" panose="02020603050405020304" pitchFamily="18" charset="0"/>
                          <a:ea typeface="Times New Roman" panose="02020603050405020304" pitchFamily="18" charset="0"/>
                        </a:rPr>
                        <a:t> problems by applying </a:t>
                      </a:r>
                      <a:r>
                        <a:rPr lang="en-US" sz="1600" b="1" kern="1200" dirty="0" err="1">
                          <a:solidFill>
                            <a:srgbClr val="000000"/>
                          </a:solidFill>
                          <a:effectLst/>
                          <a:latin typeface="Times New Roman" panose="02020603050405020304" pitchFamily="18" charset="0"/>
                          <a:ea typeface="Times New Roman" panose="02020603050405020304" pitchFamily="18" charset="0"/>
                        </a:rPr>
                        <a:t>engr</a:t>
                      </a:r>
                      <a:r>
                        <a:rPr lang="en-US" sz="1600" b="1" kern="1200" dirty="0">
                          <a:solidFill>
                            <a:srgbClr val="000000"/>
                          </a:solidFill>
                          <a:effectLst/>
                          <a:latin typeface="Times New Roman" panose="02020603050405020304" pitchFamily="18" charset="0"/>
                          <a:ea typeface="Times New Roman" panose="02020603050405020304" pitchFamily="18" charset="0"/>
                        </a:rPr>
                        <a:t>, science, and math</a:t>
                      </a:r>
                      <a:endParaRPr lang="en-US" sz="1600" dirty="0">
                        <a:effectLst/>
                        <a:latin typeface="Times New Roman" panose="02020603050405020304" pitchFamily="18" charset="0"/>
                        <a:ea typeface="Calibri" panose="020F0502020204030204" pitchFamily="34" charset="0"/>
                      </a:endParaRPr>
                    </a:p>
                  </a:txBody>
                  <a:tcPr marL="68580" marR="68580" marT="9525"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025" marR="73025">
                        <a:spcBef>
                          <a:spcPts val="0"/>
                        </a:spcBef>
                        <a:spcAft>
                          <a:spcPts val="0"/>
                        </a:spcAft>
                      </a:pPr>
                      <a:r>
                        <a:rPr lang="en-US" sz="1600" b="1" kern="1200" dirty="0">
                          <a:solidFill>
                            <a:srgbClr val="000000"/>
                          </a:solidFill>
                          <a:effectLst/>
                          <a:latin typeface="Times New Roman" panose="02020603050405020304" pitchFamily="18" charset="0"/>
                          <a:ea typeface="Times New Roman" panose="02020603050405020304" pitchFamily="18" charset="0"/>
                        </a:rPr>
                        <a:t>2 – </a:t>
                      </a:r>
                      <a:r>
                        <a:rPr lang="en-US" sz="1600" b="1" kern="1200" dirty="0" err="1">
                          <a:solidFill>
                            <a:srgbClr val="000000"/>
                          </a:solidFill>
                          <a:effectLst/>
                          <a:latin typeface="Times New Roman" panose="02020603050405020304" pitchFamily="18" charset="0"/>
                          <a:ea typeface="Times New Roman" panose="02020603050405020304" pitchFamily="18" charset="0"/>
                        </a:rPr>
                        <a:t>Engr</a:t>
                      </a:r>
                      <a:r>
                        <a:rPr lang="en-US" sz="1600" b="1" kern="1200" dirty="0">
                          <a:solidFill>
                            <a:srgbClr val="000000"/>
                          </a:solidFill>
                          <a:effectLst/>
                          <a:latin typeface="Times New Roman" panose="02020603050405020304" pitchFamily="18" charset="0"/>
                          <a:ea typeface="Times New Roman" panose="02020603050405020304" pitchFamily="18" charset="0"/>
                        </a:rPr>
                        <a:t> Design to meet needs while considering societal factors</a:t>
                      </a:r>
                      <a:endParaRPr lang="en-US" sz="1600" dirty="0">
                        <a:effectLst/>
                        <a:latin typeface="Times New Roman" panose="02020603050405020304" pitchFamily="18" charset="0"/>
                        <a:ea typeface="Calibri" panose="020F0502020204030204" pitchFamily="34" charset="0"/>
                      </a:endParaRPr>
                    </a:p>
                  </a:txBody>
                  <a:tcPr marL="68580" marR="68580" marT="9525"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025" marR="73025">
                        <a:spcBef>
                          <a:spcPts val="0"/>
                        </a:spcBef>
                        <a:spcAft>
                          <a:spcPts val="0"/>
                        </a:spcAft>
                      </a:pPr>
                      <a:r>
                        <a:rPr lang="en-US" sz="1600" b="1" kern="1200" dirty="0">
                          <a:solidFill>
                            <a:srgbClr val="000000"/>
                          </a:solidFill>
                          <a:effectLst/>
                          <a:latin typeface="Times New Roman" panose="02020603050405020304" pitchFamily="18" charset="0"/>
                          <a:ea typeface="Times New Roman" panose="02020603050405020304" pitchFamily="18" charset="0"/>
                        </a:rPr>
                        <a:t>3 – Communicate effectively</a:t>
                      </a:r>
                      <a:endParaRPr lang="en-US" sz="1600" dirty="0">
                        <a:effectLst/>
                        <a:latin typeface="Times New Roman" panose="02020603050405020304" pitchFamily="18" charset="0"/>
                        <a:ea typeface="Calibri" panose="020F0502020204030204" pitchFamily="34" charset="0"/>
                      </a:endParaRPr>
                    </a:p>
                  </a:txBody>
                  <a:tcPr marL="68580" marR="68580" marT="9525"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025" marR="73025">
                        <a:spcBef>
                          <a:spcPts val="0"/>
                        </a:spcBef>
                        <a:spcAft>
                          <a:spcPts val="0"/>
                        </a:spcAft>
                      </a:pPr>
                      <a:r>
                        <a:rPr lang="en-US" sz="1600" b="1" kern="1200" dirty="0">
                          <a:solidFill>
                            <a:srgbClr val="000000"/>
                          </a:solidFill>
                          <a:effectLst/>
                          <a:latin typeface="Times New Roman" panose="02020603050405020304" pitchFamily="18" charset="0"/>
                          <a:ea typeface="Times New Roman" panose="02020603050405020304" pitchFamily="18" charset="0"/>
                        </a:rPr>
                        <a:t>4 – Professional and ethical responsibilities; judgements considering societal factors</a:t>
                      </a:r>
                      <a:endParaRPr lang="en-US" sz="1600" dirty="0">
                        <a:effectLst/>
                        <a:latin typeface="Times New Roman" panose="02020603050405020304" pitchFamily="18" charset="0"/>
                        <a:ea typeface="Calibri" panose="020F0502020204030204" pitchFamily="34" charset="0"/>
                      </a:endParaRPr>
                    </a:p>
                  </a:txBody>
                  <a:tcPr marL="68580" marR="68580" marT="9525"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025" marR="73025">
                        <a:spcBef>
                          <a:spcPts val="0"/>
                        </a:spcBef>
                        <a:spcAft>
                          <a:spcPts val="0"/>
                        </a:spcAft>
                      </a:pPr>
                      <a:r>
                        <a:rPr lang="en-US" sz="1600" b="1" kern="1200">
                          <a:solidFill>
                            <a:srgbClr val="000000"/>
                          </a:solidFill>
                          <a:effectLst/>
                          <a:latin typeface="Times New Roman" panose="02020603050405020304" pitchFamily="18" charset="0"/>
                          <a:ea typeface="Times New Roman" panose="02020603050405020304" pitchFamily="18" charset="0"/>
                        </a:rPr>
                        <a:t>5 - Function on multidisciplinary teams</a:t>
                      </a:r>
                      <a:endParaRPr lang="en-US" sz="1600">
                        <a:effectLst/>
                        <a:latin typeface="Times New Roman" panose="02020603050405020304" pitchFamily="18" charset="0"/>
                        <a:ea typeface="Calibri" panose="020F0502020204030204" pitchFamily="34" charset="0"/>
                      </a:endParaRPr>
                    </a:p>
                  </a:txBody>
                  <a:tcPr marL="68580" marR="68580" marT="9525"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025" marR="73025">
                        <a:spcBef>
                          <a:spcPts val="0"/>
                        </a:spcBef>
                        <a:spcAft>
                          <a:spcPts val="0"/>
                        </a:spcAft>
                      </a:pPr>
                      <a:r>
                        <a:rPr lang="en-US" sz="1600" b="1" kern="1200" dirty="0">
                          <a:solidFill>
                            <a:srgbClr val="000000"/>
                          </a:solidFill>
                          <a:effectLst/>
                          <a:latin typeface="Times New Roman" panose="02020603050405020304" pitchFamily="18" charset="0"/>
                          <a:ea typeface="Times New Roman" panose="02020603050405020304" pitchFamily="18" charset="0"/>
                        </a:rPr>
                        <a:t>6 - Develop and conduct experiments; analyze data; draw conclusions</a:t>
                      </a:r>
                      <a:endParaRPr lang="en-US" sz="1600" dirty="0">
                        <a:effectLst/>
                        <a:latin typeface="Times New Roman" panose="02020603050405020304" pitchFamily="18" charset="0"/>
                        <a:ea typeface="Calibri" panose="020F0502020204030204" pitchFamily="34" charset="0"/>
                      </a:endParaRPr>
                    </a:p>
                  </a:txBody>
                  <a:tcPr marL="68580" marR="68580" marT="9525"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025" marR="73025">
                        <a:spcBef>
                          <a:spcPts val="0"/>
                        </a:spcBef>
                        <a:spcAft>
                          <a:spcPts val="0"/>
                        </a:spcAft>
                      </a:pPr>
                      <a:r>
                        <a:rPr lang="en-US" sz="1600" b="1" kern="1200" dirty="0">
                          <a:solidFill>
                            <a:srgbClr val="000000"/>
                          </a:solidFill>
                          <a:effectLst/>
                          <a:latin typeface="Times New Roman" panose="02020603050405020304" pitchFamily="18" charset="0"/>
                          <a:ea typeface="Times New Roman" panose="02020603050405020304" pitchFamily="18" charset="0"/>
                        </a:rPr>
                        <a:t>7 – Ability to acquire new knowledge</a:t>
                      </a:r>
                      <a:endParaRPr lang="en-US" sz="1600" dirty="0">
                        <a:effectLst/>
                        <a:latin typeface="Times New Roman" panose="02020603050405020304" pitchFamily="18" charset="0"/>
                        <a:ea typeface="Calibri" panose="020F0502020204030204" pitchFamily="34" charset="0"/>
                      </a:endParaRPr>
                    </a:p>
                  </a:txBody>
                  <a:tcPr marL="68580" marR="68580" marT="9525"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3198933"/>
                  </a:ext>
                </a:extLst>
              </a:tr>
              <a:tr h="266688">
                <a:tc>
                  <a:txBody>
                    <a:bodyPr/>
                    <a:lstStyle/>
                    <a:p>
                      <a:pPr marL="0" marR="0">
                        <a:spcBef>
                          <a:spcPts val="0"/>
                        </a:spcBef>
                        <a:spcAft>
                          <a:spcPts val="0"/>
                        </a:spcAft>
                      </a:pPr>
                      <a:r>
                        <a:rPr lang="en-US" sz="1400" b="1" kern="1200" dirty="0">
                          <a:solidFill>
                            <a:srgbClr val="000000"/>
                          </a:solidFill>
                          <a:effectLst/>
                          <a:latin typeface="Times New Roman" panose="02020603050405020304" pitchFamily="18" charset="0"/>
                          <a:ea typeface="Times New Roman" panose="02020603050405020304" pitchFamily="18" charset="0"/>
                        </a:rPr>
                        <a:t>ECE 343 – 1</a:t>
                      </a:r>
                      <a:endParaRPr lang="en-US" sz="14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b="1" kern="1200" dirty="0">
                          <a:solidFill>
                            <a:srgbClr val="000000"/>
                          </a:solidFill>
                          <a:effectLst/>
                          <a:latin typeface="Times New Roman" panose="02020603050405020304" pitchFamily="18" charset="0"/>
                          <a:ea typeface="Times New Roman" panose="02020603050405020304" pitchFamily="18" charset="0"/>
                        </a:rPr>
                        <a:t>M</a:t>
                      </a:r>
                      <a:endParaRPr lang="en-US" sz="14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dirty="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9233511"/>
                  </a:ext>
                </a:extLst>
              </a:tr>
              <a:tr h="266688">
                <a:tc>
                  <a:txBody>
                    <a:bodyPr/>
                    <a:lstStyle/>
                    <a:p>
                      <a:pPr marL="0" marR="0">
                        <a:spcBef>
                          <a:spcPts val="0"/>
                        </a:spcBef>
                        <a:spcAft>
                          <a:spcPts val="0"/>
                        </a:spcAft>
                      </a:pPr>
                      <a:r>
                        <a:rPr lang="en-US" sz="1400" b="1" kern="1200" dirty="0">
                          <a:solidFill>
                            <a:srgbClr val="000000"/>
                          </a:solidFill>
                          <a:effectLst/>
                          <a:latin typeface="Times New Roman" panose="02020603050405020304" pitchFamily="18" charset="0"/>
                          <a:ea typeface="Times New Roman" panose="02020603050405020304" pitchFamily="18" charset="0"/>
                        </a:rPr>
                        <a:t>ECE 343 – 2</a:t>
                      </a:r>
                      <a:endParaRPr lang="en-US" sz="14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000000"/>
                          </a:solidFill>
                          <a:effectLst/>
                          <a:latin typeface="Times New Roman" panose="02020603050405020304" pitchFamily="18" charset="0"/>
                          <a:ea typeface="Times New Roman" panose="02020603050405020304" pitchFamily="18" charset="0"/>
                        </a:rPr>
                        <a:t>M</a:t>
                      </a:r>
                      <a:endParaRPr lang="en-US" sz="14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dirty="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dirty="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4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9246023"/>
                  </a:ext>
                </a:extLst>
              </a:tr>
              <a:tr h="266688">
                <a:tc>
                  <a:txBody>
                    <a:bodyPr/>
                    <a:lstStyle/>
                    <a:p>
                      <a:pPr marL="0" marR="0">
                        <a:spcBef>
                          <a:spcPts val="0"/>
                        </a:spcBef>
                        <a:spcAft>
                          <a:spcPts val="0"/>
                        </a:spcAft>
                      </a:pPr>
                      <a:r>
                        <a:rPr lang="en-US" sz="1400" b="1" kern="1200" dirty="0">
                          <a:effectLst/>
                          <a:latin typeface="Times New Roman" panose="02020603050405020304" pitchFamily="18" charset="0"/>
                          <a:ea typeface="Times New Roman" panose="02020603050405020304" pitchFamily="18" charset="0"/>
                        </a:rPr>
                        <a:t>ECE 343 – 3</a:t>
                      </a:r>
                      <a:endParaRPr lang="en-US" sz="14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000000"/>
                          </a:solidFill>
                          <a:effectLst/>
                          <a:latin typeface="Times New Roman" panose="02020603050405020304" pitchFamily="18" charset="0"/>
                          <a:ea typeface="Times New Roman" panose="02020603050405020304" pitchFamily="18" charset="0"/>
                        </a:rPr>
                        <a:t>M</a:t>
                      </a:r>
                      <a:endParaRPr lang="en-US" sz="14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400" dirty="0">
                        <a:effectLst/>
                        <a:latin typeface="Times New Roman" panose="02020603050405020304" pitchFamily="18" charset="0"/>
                        <a:ea typeface="Calibri" panose="020F0502020204030204" pitchFamily="34"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dirty="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dirty="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400" dirty="0">
                        <a:effectLst/>
                        <a:latin typeface="Times New Roman" panose="02020603050405020304" pitchFamily="18" charset="0"/>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348978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a:effectLst/>
        </p:spPr>
        <p:txBody>
          <a:bodyPr vert="horz" wrap="square" lIns="91440" tIns="45720" rIns="91440" bIns="45720" numCol="1" anchor="ctr" anchorCtr="0" compatLnSpc="1">
            <a:prstTxWarp prst="textNoShape">
              <a:avLst/>
            </a:prstTxWarp>
          </a:bodyPr>
          <a:lstStyle/>
          <a:p>
            <a:r>
              <a:rPr lang="en-US" sz="3200" i="1" dirty="0">
                <a:cs typeface="Times New Roman" pitchFamily="18" charset="0"/>
              </a:rPr>
              <a:t>Previous Course Assessment</a:t>
            </a:r>
          </a:p>
        </p:txBody>
      </p:sp>
      <p:sp>
        <p:nvSpPr>
          <p:cNvPr id="3" name="Content Placeholder 2"/>
          <p:cNvSpPr>
            <a:spLocks noGrp="1"/>
          </p:cNvSpPr>
          <p:nvPr>
            <p:ph idx="1"/>
          </p:nvPr>
        </p:nvSpPr>
        <p:spPr>
          <a:xfrm>
            <a:off x="384175" y="2860902"/>
            <a:ext cx="8383588" cy="2855689"/>
          </a:xfrm>
        </p:spPr>
        <p:txBody>
          <a:bodyPr/>
          <a:lstStyle/>
          <a:p>
            <a:r>
              <a:rPr lang="en-US" dirty="0"/>
              <a:t>SO 1, Apply knowledge of math, science, engineering: Average of all graded events</a:t>
            </a:r>
          </a:p>
        </p:txBody>
      </p:sp>
      <p:sp>
        <p:nvSpPr>
          <p:cNvPr id="4" name="Slide Number Placeholder 3"/>
          <p:cNvSpPr>
            <a:spLocks noGrp="1"/>
          </p:cNvSpPr>
          <p:nvPr>
            <p:ph type="sldNum" sz="quarter" idx="10"/>
          </p:nvPr>
        </p:nvSpPr>
        <p:spPr/>
        <p:txBody>
          <a:bodyPr/>
          <a:lstStyle/>
          <a:p>
            <a:fld id="{B3EB24CA-5395-47FC-B9F9-D52B42541625}" type="slidenum">
              <a:rPr lang="en-US" smtClean="0"/>
              <a:pPr/>
              <a:t>10</a:t>
            </a:fld>
            <a:endParaRPr lang="en-US" dirty="0"/>
          </a:p>
        </p:txBody>
      </p:sp>
      <p:graphicFrame>
        <p:nvGraphicFramePr>
          <p:cNvPr id="5" name="Content Placeholder 4"/>
          <p:cNvGraphicFramePr>
            <a:graphicFrameLocks/>
          </p:cNvGraphicFramePr>
          <p:nvPr>
            <p:extLst>
              <p:ext uri="{D42A27DB-BD31-4B8C-83A1-F6EECF244321}">
                <p14:modId xmlns:p14="http://schemas.microsoft.com/office/powerpoint/2010/main" val="4246690082"/>
              </p:ext>
            </p:extLst>
          </p:nvPr>
        </p:nvGraphicFramePr>
        <p:xfrm>
          <a:off x="4457080" y="2288064"/>
          <a:ext cx="2649879" cy="487680"/>
        </p:xfrm>
        <a:graphic>
          <a:graphicData uri="http://schemas.openxmlformats.org/drawingml/2006/table">
            <a:tbl>
              <a:tblPr/>
              <a:tblGrid>
                <a:gridCol w="883293">
                  <a:extLst>
                    <a:ext uri="{9D8B030D-6E8A-4147-A177-3AD203B41FA5}">
                      <a16:colId xmlns:a16="http://schemas.microsoft.com/office/drawing/2014/main" val="20000"/>
                    </a:ext>
                  </a:extLst>
                </a:gridCol>
                <a:gridCol w="883293">
                  <a:extLst>
                    <a:ext uri="{9D8B030D-6E8A-4147-A177-3AD203B41FA5}">
                      <a16:colId xmlns:a16="http://schemas.microsoft.com/office/drawing/2014/main" val="20001"/>
                    </a:ext>
                  </a:extLst>
                </a:gridCol>
                <a:gridCol w="883293">
                  <a:extLst>
                    <a:ext uri="{9D8B030D-6E8A-4147-A177-3AD203B41FA5}">
                      <a16:colId xmlns:a16="http://schemas.microsoft.com/office/drawing/2014/main" val="20002"/>
                    </a:ext>
                  </a:extLst>
                </a:gridCol>
              </a:tblGrid>
              <a:tr h="0">
                <a:tc>
                  <a:txBody>
                    <a:bodyPr/>
                    <a:lstStyle/>
                    <a:p>
                      <a:pPr marL="0" marR="0" algn="ctr">
                        <a:spcBef>
                          <a:spcPts val="0"/>
                        </a:spcBef>
                        <a:spcAft>
                          <a:spcPts val="0"/>
                        </a:spcAft>
                      </a:pPr>
                      <a:r>
                        <a:rPr lang="en-US" sz="1600" b="1" dirty="0" err="1">
                          <a:latin typeface="Times New Roman"/>
                          <a:ea typeface="Times New Roman"/>
                        </a:rPr>
                        <a:t>Obj</a:t>
                      </a:r>
                      <a:r>
                        <a:rPr lang="en-US" sz="1600" b="1" dirty="0">
                          <a:latin typeface="Times New Roman"/>
                          <a:ea typeface="Times New Roman"/>
                        </a:rPr>
                        <a:t> 1</a:t>
                      </a:r>
                      <a:endParaRPr lang="en-US" sz="18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err="1">
                          <a:latin typeface="Times New Roman"/>
                          <a:ea typeface="Times New Roman"/>
                        </a:rPr>
                        <a:t>Obj</a:t>
                      </a:r>
                      <a:r>
                        <a:rPr lang="en-US" sz="1600" b="1" dirty="0">
                          <a:latin typeface="Times New Roman"/>
                          <a:ea typeface="Times New Roman"/>
                        </a:rPr>
                        <a:t> 2</a:t>
                      </a:r>
                      <a:endParaRPr lang="en-US" sz="18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latin typeface="Times New Roman"/>
                          <a:ea typeface="Times New Roman"/>
                        </a:rPr>
                        <a:t>Obj 3</a:t>
                      </a:r>
                      <a:endParaRPr lang="en-US" sz="18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spcBef>
                          <a:spcPts val="0"/>
                        </a:spcBef>
                        <a:spcAft>
                          <a:spcPts val="0"/>
                        </a:spcAft>
                      </a:pPr>
                      <a:r>
                        <a:rPr lang="en-US" sz="1600" dirty="0">
                          <a:latin typeface="Arial"/>
                          <a:ea typeface="Times New Roman"/>
                        </a:rPr>
                        <a:t>88.5%</a:t>
                      </a:r>
                      <a:endParaRPr lang="en-US" sz="18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en-US" sz="1600" dirty="0">
                          <a:latin typeface="Arial"/>
                          <a:ea typeface="Times New Roman"/>
                        </a:rPr>
                        <a:t>90.8%</a:t>
                      </a:r>
                      <a:endParaRPr lang="en-US" sz="18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en-US" sz="1600" dirty="0">
                          <a:latin typeface="Arial"/>
                          <a:ea typeface="Times New Roman"/>
                        </a:rPr>
                        <a:t>86.4%</a:t>
                      </a:r>
                      <a:endParaRPr lang="en-US" sz="18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437197133"/>
              </p:ext>
            </p:extLst>
          </p:nvPr>
        </p:nvGraphicFramePr>
        <p:xfrm>
          <a:off x="769257" y="2222702"/>
          <a:ext cx="2002572" cy="611052"/>
        </p:xfrm>
        <a:graphic>
          <a:graphicData uri="http://schemas.openxmlformats.org/drawingml/2006/table">
            <a:tbl>
              <a:tblPr/>
              <a:tblGrid>
                <a:gridCol w="1075344">
                  <a:extLst>
                    <a:ext uri="{9D8B030D-6E8A-4147-A177-3AD203B41FA5}">
                      <a16:colId xmlns:a16="http://schemas.microsoft.com/office/drawing/2014/main" val="20000"/>
                    </a:ext>
                  </a:extLst>
                </a:gridCol>
                <a:gridCol w="927228">
                  <a:extLst>
                    <a:ext uri="{9D8B030D-6E8A-4147-A177-3AD203B41FA5}">
                      <a16:colId xmlns:a16="http://schemas.microsoft.com/office/drawing/2014/main" val="20001"/>
                    </a:ext>
                  </a:extLst>
                </a:gridCol>
              </a:tblGrid>
              <a:tr h="305526">
                <a:tc>
                  <a:txBody>
                    <a:bodyPr/>
                    <a:lstStyle/>
                    <a:p>
                      <a:pPr marL="0" marR="0">
                        <a:spcBef>
                          <a:spcPts val="0"/>
                        </a:spcBef>
                        <a:spcAft>
                          <a:spcPts val="0"/>
                        </a:spcAft>
                      </a:pPr>
                      <a:r>
                        <a:rPr lang="en-US" sz="1400" b="1" dirty="0">
                          <a:latin typeface="Times New Roman"/>
                          <a:ea typeface="Times New Roman"/>
                        </a:rPr>
                        <a:t>S.</a:t>
                      </a:r>
                      <a:r>
                        <a:rPr lang="en-US" sz="1400" b="1" baseline="0" dirty="0">
                          <a:latin typeface="Times New Roman"/>
                          <a:ea typeface="Times New Roman"/>
                        </a:rPr>
                        <a:t> </a:t>
                      </a:r>
                      <a:r>
                        <a:rPr lang="en-US" sz="1400" b="1" dirty="0">
                          <a:latin typeface="Times New Roman"/>
                          <a:ea typeface="Times New Roman"/>
                        </a:rPr>
                        <a:t>O.</a:t>
                      </a:r>
                      <a:endParaRPr lang="en-US" sz="1600" dirty="0">
                        <a:latin typeface="Times New Roman"/>
                        <a:ea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b="1" dirty="0">
                          <a:latin typeface="Times New Roman"/>
                          <a:ea typeface="Times New Roman"/>
                        </a:rPr>
                        <a:t>1</a:t>
                      </a:r>
                      <a:endParaRPr lang="en-US" sz="1600" dirty="0">
                        <a:latin typeface="Times New Roman"/>
                        <a:ea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5526">
                <a:tc>
                  <a:txBody>
                    <a:bodyPr/>
                    <a:lstStyle/>
                    <a:p>
                      <a:pPr marL="0" marR="0">
                        <a:spcBef>
                          <a:spcPts val="0"/>
                        </a:spcBef>
                        <a:spcAft>
                          <a:spcPts val="0"/>
                        </a:spcAft>
                      </a:pPr>
                      <a:r>
                        <a:rPr lang="en-US" sz="1400" b="1">
                          <a:latin typeface="Times New Roman"/>
                          <a:ea typeface="Times New Roman"/>
                        </a:rPr>
                        <a:t>Percentage</a:t>
                      </a:r>
                      <a:endParaRPr lang="en-US" sz="1600">
                        <a:latin typeface="Times New Roman"/>
                        <a:ea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en-US" sz="1600" dirty="0">
                          <a:solidFill>
                            <a:schemeClr val="tx1"/>
                          </a:solidFill>
                          <a:latin typeface="Times New Roman"/>
                          <a:ea typeface="Times New Roman"/>
                        </a:rPr>
                        <a:t>88.4%</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2716578" y="1712686"/>
            <a:ext cx="3990003" cy="461665"/>
          </a:xfrm>
          <a:prstGeom prst="rect">
            <a:avLst/>
          </a:prstGeom>
          <a:noFill/>
        </p:spPr>
        <p:txBody>
          <a:bodyPr wrap="none" rtlCol="0">
            <a:spAutoFit/>
          </a:bodyPr>
          <a:lstStyle/>
          <a:p>
            <a:pPr algn="l"/>
            <a:r>
              <a:rPr lang="en-US" sz="2400" b="1" dirty="0"/>
              <a:t>Spring 2024 Assessments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739900" y="133350"/>
            <a:ext cx="7179310" cy="1143000"/>
          </a:xfrm>
          <a:noFill/>
          <a:ln w="9525">
            <a:noFill/>
            <a:miter lim="800000"/>
            <a:headEnd/>
            <a:tailEnd/>
          </a:ln>
          <a:effectLst/>
        </p:spPr>
        <p:txBody>
          <a:bodyPr vert="horz" wrap="square" lIns="91440" tIns="45720" rIns="91440" bIns="45720" numCol="1" anchor="ctr" anchorCtr="0" compatLnSpc="1">
            <a:prstTxWarp prst="textNoShape">
              <a:avLst/>
            </a:prstTxWarp>
          </a:bodyPr>
          <a:lstStyle/>
          <a:p>
            <a:r>
              <a:rPr lang="en-US" sz="3200" i="1" dirty="0">
                <a:cs typeface="Times New Roman" pitchFamily="18" charset="0"/>
              </a:rPr>
              <a:t>Recommendations from Spring 2022 </a:t>
            </a:r>
          </a:p>
        </p:txBody>
      </p:sp>
      <p:sp>
        <p:nvSpPr>
          <p:cNvPr id="19458" name="Rectangle 3"/>
          <p:cNvSpPr>
            <a:spLocks noGrp="1" noChangeArrowheads="1"/>
          </p:cNvSpPr>
          <p:nvPr>
            <p:ph idx="1"/>
          </p:nvPr>
        </p:nvSpPr>
        <p:spPr/>
        <p:txBody>
          <a:bodyPr/>
          <a:lstStyle/>
          <a:p>
            <a:pPr>
              <a:lnSpc>
                <a:spcPct val="80000"/>
              </a:lnSpc>
            </a:pPr>
            <a:r>
              <a:rPr lang="en-US" sz="2800" dirty="0">
                <a:cs typeface="Times New Roman" pitchFamily="18" charset="0"/>
              </a:rPr>
              <a:t>Problem:  </a:t>
            </a:r>
            <a:r>
              <a:rPr lang="en-US" sz="2800" b="0" dirty="0">
                <a:cs typeface="Times New Roman" pitchFamily="18" charset="0"/>
              </a:rPr>
              <a:t>Although the current textbook has a very good flow, it is nearly 15 years old and outdated, and may be out of print, as it is expensive and not readily available. </a:t>
            </a:r>
          </a:p>
          <a:p>
            <a:pPr>
              <a:lnSpc>
                <a:spcPct val="80000"/>
              </a:lnSpc>
            </a:pPr>
            <a:r>
              <a:rPr lang="en-US" sz="2800" dirty="0">
                <a:cs typeface="Times New Roman" pitchFamily="18" charset="0"/>
              </a:rPr>
              <a:t>Proposed Solution:  </a:t>
            </a:r>
            <a:r>
              <a:rPr lang="en-US" sz="2800" b="0" dirty="0">
                <a:cs typeface="Times New Roman" pitchFamily="18" charset="0"/>
              </a:rPr>
              <a:t>Investigate newer offerings</a:t>
            </a:r>
          </a:p>
          <a:p>
            <a:pPr>
              <a:lnSpc>
                <a:spcPct val="80000"/>
              </a:lnSpc>
            </a:pPr>
            <a:r>
              <a:rPr lang="en-US" sz="2800" dirty="0">
                <a:cs typeface="Times New Roman" pitchFamily="18" charset="0"/>
              </a:rPr>
              <a:t>Proposed Assessment Method/Success:  </a:t>
            </a:r>
            <a:r>
              <a:rPr lang="en-US" sz="2800" b="0" dirty="0">
                <a:cs typeface="Times New Roman" pitchFamily="18" charset="0"/>
              </a:rPr>
              <a:t>N/A    </a:t>
            </a:r>
          </a:p>
          <a:p>
            <a:pPr>
              <a:lnSpc>
                <a:spcPct val="80000"/>
              </a:lnSpc>
            </a:pPr>
            <a:r>
              <a:rPr lang="en-US" sz="2800" dirty="0">
                <a:cs typeface="Times New Roman" pitchFamily="18" charset="0"/>
              </a:rPr>
              <a:t>Coordinating Courses/Suspense: </a:t>
            </a:r>
            <a:r>
              <a:rPr lang="en-US" sz="2800" b="0" dirty="0">
                <a:cs typeface="Times New Roman" pitchFamily="18" charset="0"/>
              </a:rPr>
              <a:t>N/A</a:t>
            </a:r>
          </a:p>
          <a:p>
            <a:pPr>
              <a:lnSpc>
                <a:spcPct val="80000"/>
              </a:lnSpc>
            </a:pPr>
            <a:r>
              <a:rPr lang="en-US" sz="2800" dirty="0">
                <a:cs typeface="Times New Roman" pitchFamily="18" charset="0"/>
              </a:rPr>
              <a:t>Update:</a:t>
            </a:r>
            <a:r>
              <a:rPr lang="en-US" sz="2800" b="0" dirty="0">
                <a:cs typeface="Times New Roman" pitchFamily="18" charset="0"/>
              </a:rPr>
              <a:t> New book used (e-book) to great success. Feedback from students was largely positive, course reorganized according to book.</a:t>
            </a:r>
          </a:p>
          <a:p>
            <a:pPr>
              <a:lnSpc>
                <a:spcPct val="80000"/>
              </a:lnSpc>
            </a:pPr>
            <a:endParaRPr lang="en-US" sz="2800" b="0" dirty="0">
              <a:cs typeface="Times New Roman" pitchFamily="18" charset="0"/>
            </a:endParaRPr>
          </a:p>
          <a:p>
            <a:pPr marL="0" indent="0" algn="ctr">
              <a:lnSpc>
                <a:spcPct val="80000"/>
              </a:lnSpc>
              <a:buNone/>
            </a:pPr>
            <a:r>
              <a:rPr lang="en-US" sz="2800" dirty="0">
                <a:solidFill>
                  <a:srgbClr val="009900"/>
                </a:solidFill>
                <a:cs typeface="Times New Roman" pitchFamily="18" charset="0"/>
              </a:rPr>
              <a:t>Closed</a:t>
            </a:r>
          </a:p>
        </p:txBody>
      </p:sp>
      <p:sp>
        <p:nvSpPr>
          <p:cNvPr id="19460" name="Slide Number Placeholder 5"/>
          <p:cNvSpPr>
            <a:spLocks noGrp="1"/>
          </p:cNvSpPr>
          <p:nvPr>
            <p:ph type="sldNum" sz="quarter" idx="10"/>
          </p:nvPr>
        </p:nvSpPr>
        <p:spPr>
          <a:prstGeom prst="rect">
            <a:avLst/>
          </a:prstGeom>
          <a:noFill/>
        </p:spPr>
        <p:txBody>
          <a:bodyPr/>
          <a:lstStyle/>
          <a:p>
            <a:fld id="{F9A66F2C-2A21-4328-9CE2-B12C558076A6}" type="slidenum">
              <a:rPr lang="en-US" smtClean="0"/>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59CF9-9CC3-4B72-204C-9709F535BBB4}"/>
            </a:ext>
          </a:extLst>
        </p:cNvPr>
        <p:cNvGrpSpPr/>
        <p:nvPr/>
      </p:nvGrpSpPr>
      <p:grpSpPr>
        <a:xfrm>
          <a:off x="0" y="0"/>
          <a:ext cx="0" cy="0"/>
          <a:chOff x="0" y="0"/>
          <a:chExt cx="0" cy="0"/>
        </a:xfrm>
      </p:grpSpPr>
      <p:sp>
        <p:nvSpPr>
          <p:cNvPr id="19459" name="Rectangle 2">
            <a:extLst>
              <a:ext uri="{FF2B5EF4-FFF2-40B4-BE49-F238E27FC236}">
                <a16:creationId xmlns:a16="http://schemas.microsoft.com/office/drawing/2014/main" id="{4D8BEC96-B695-B95C-EAAA-4084280B0C83}"/>
              </a:ext>
            </a:extLst>
          </p:cNvPr>
          <p:cNvSpPr>
            <a:spLocks noGrp="1" noChangeArrowheads="1"/>
          </p:cNvSpPr>
          <p:nvPr>
            <p:ph type="title"/>
          </p:nvPr>
        </p:nvSpPr>
        <p:spPr>
          <a:xfrm>
            <a:off x="1739900" y="133350"/>
            <a:ext cx="7179310" cy="1143000"/>
          </a:xfrm>
          <a:noFill/>
          <a:ln w="9525">
            <a:noFill/>
            <a:miter lim="800000"/>
            <a:headEnd/>
            <a:tailEnd/>
          </a:ln>
          <a:effectLst/>
        </p:spPr>
        <p:txBody>
          <a:bodyPr vert="horz" wrap="square" lIns="91440" tIns="45720" rIns="91440" bIns="45720" numCol="1" anchor="ctr" anchorCtr="0" compatLnSpc="1">
            <a:prstTxWarp prst="textNoShape">
              <a:avLst/>
            </a:prstTxWarp>
          </a:bodyPr>
          <a:lstStyle/>
          <a:p>
            <a:r>
              <a:rPr lang="en-US" sz="3200" i="1" dirty="0">
                <a:cs typeface="Times New Roman" pitchFamily="18" charset="0"/>
              </a:rPr>
              <a:t>Recommendations from Spring 2023 </a:t>
            </a:r>
          </a:p>
        </p:txBody>
      </p:sp>
      <p:sp>
        <p:nvSpPr>
          <p:cNvPr id="19458" name="Rectangle 3">
            <a:extLst>
              <a:ext uri="{FF2B5EF4-FFF2-40B4-BE49-F238E27FC236}">
                <a16:creationId xmlns:a16="http://schemas.microsoft.com/office/drawing/2014/main" id="{8B402766-2DBF-A57C-F3DE-E6D438382EC5}"/>
              </a:ext>
            </a:extLst>
          </p:cNvPr>
          <p:cNvSpPr>
            <a:spLocks noGrp="1" noChangeArrowheads="1"/>
          </p:cNvSpPr>
          <p:nvPr>
            <p:ph idx="1"/>
          </p:nvPr>
        </p:nvSpPr>
        <p:spPr/>
        <p:txBody>
          <a:bodyPr/>
          <a:lstStyle/>
          <a:p>
            <a:pPr>
              <a:lnSpc>
                <a:spcPct val="80000"/>
              </a:lnSpc>
            </a:pPr>
            <a:r>
              <a:rPr lang="en-US" sz="2800" dirty="0">
                <a:cs typeface="Times New Roman" pitchFamily="18" charset="0"/>
              </a:rPr>
              <a:t>Problem:  </a:t>
            </a:r>
            <a:r>
              <a:rPr lang="en-US" sz="2800" b="0" dirty="0">
                <a:cs typeface="Times New Roman" pitchFamily="18" charset="0"/>
              </a:rPr>
              <a:t>Course lacks hands-on activities.</a:t>
            </a:r>
          </a:p>
          <a:p>
            <a:pPr>
              <a:lnSpc>
                <a:spcPct val="80000"/>
              </a:lnSpc>
            </a:pPr>
            <a:r>
              <a:rPr lang="en-US" sz="2800" dirty="0">
                <a:cs typeface="Times New Roman" pitchFamily="18" charset="0"/>
              </a:rPr>
              <a:t>Proposed Solution:  </a:t>
            </a:r>
            <a:r>
              <a:rPr lang="en-US" sz="2800" b="0" dirty="0">
                <a:cs typeface="Times New Roman" pitchFamily="18" charset="0"/>
              </a:rPr>
              <a:t>Integrate hands-on activities/labs to reinforce learning. Summer Faculty hired to assist.</a:t>
            </a:r>
          </a:p>
          <a:p>
            <a:pPr>
              <a:lnSpc>
                <a:spcPct val="80000"/>
              </a:lnSpc>
            </a:pPr>
            <a:r>
              <a:rPr lang="en-US" sz="2800" dirty="0">
                <a:cs typeface="Times New Roman" pitchFamily="18" charset="0"/>
              </a:rPr>
              <a:t>Proposed Assessment Method/Success:  </a:t>
            </a:r>
            <a:r>
              <a:rPr lang="en-US" sz="2800" b="0" dirty="0">
                <a:cs typeface="Times New Roman" pitchFamily="18" charset="0"/>
              </a:rPr>
              <a:t>Feedback on hands-on activities.</a:t>
            </a:r>
          </a:p>
          <a:p>
            <a:pPr>
              <a:lnSpc>
                <a:spcPct val="80000"/>
              </a:lnSpc>
            </a:pPr>
            <a:r>
              <a:rPr lang="en-US" sz="2800" dirty="0">
                <a:cs typeface="Times New Roman" pitchFamily="18" charset="0"/>
              </a:rPr>
              <a:t>Coordinating Courses/Suspense: </a:t>
            </a:r>
            <a:r>
              <a:rPr lang="en-US" sz="2800" b="0" dirty="0">
                <a:cs typeface="Times New Roman" pitchFamily="18" charset="0"/>
              </a:rPr>
              <a:t>N/A</a:t>
            </a:r>
          </a:p>
          <a:p>
            <a:pPr>
              <a:lnSpc>
                <a:spcPct val="80000"/>
              </a:lnSpc>
            </a:pPr>
            <a:r>
              <a:rPr lang="en-US" sz="2800" dirty="0">
                <a:cs typeface="Times New Roman" pitchFamily="18" charset="0"/>
              </a:rPr>
              <a:t>Update:</a:t>
            </a:r>
            <a:r>
              <a:rPr lang="en-US" sz="2800" b="0" dirty="0">
                <a:cs typeface="Times New Roman" pitchFamily="18" charset="0"/>
              </a:rPr>
              <a:t> Incorporated 3 new labs (Electrostatics, transmission line, magnetostatics) into course. </a:t>
            </a:r>
            <a:r>
              <a:rPr lang="en-US" sz="2800" b="0">
                <a:cs typeface="Times New Roman" pitchFamily="18" charset="0"/>
              </a:rPr>
              <a:t>End goal </a:t>
            </a:r>
            <a:r>
              <a:rPr lang="en-US" sz="2800" b="0" dirty="0">
                <a:cs typeface="Times New Roman" pitchFamily="18" charset="0"/>
              </a:rPr>
              <a:t>is to get to 5 (1 per major topic). </a:t>
            </a:r>
          </a:p>
          <a:p>
            <a:pPr marL="0" indent="0">
              <a:lnSpc>
                <a:spcPct val="80000"/>
              </a:lnSpc>
              <a:buNone/>
            </a:pPr>
            <a:endParaRPr lang="en-US" sz="2800" b="0" dirty="0">
              <a:cs typeface="Times New Roman" pitchFamily="18" charset="0"/>
            </a:endParaRPr>
          </a:p>
          <a:p>
            <a:pPr marL="0" indent="0" algn="ctr">
              <a:lnSpc>
                <a:spcPct val="80000"/>
              </a:lnSpc>
              <a:buNone/>
            </a:pPr>
            <a:r>
              <a:rPr lang="en-US" sz="2800" dirty="0">
                <a:solidFill>
                  <a:srgbClr val="FF0000"/>
                </a:solidFill>
                <a:cs typeface="Times New Roman" pitchFamily="18" charset="0"/>
              </a:rPr>
              <a:t>In Progress</a:t>
            </a:r>
          </a:p>
        </p:txBody>
      </p:sp>
      <p:sp>
        <p:nvSpPr>
          <p:cNvPr id="19460" name="Slide Number Placeholder 5">
            <a:extLst>
              <a:ext uri="{FF2B5EF4-FFF2-40B4-BE49-F238E27FC236}">
                <a16:creationId xmlns:a16="http://schemas.microsoft.com/office/drawing/2014/main" id="{F15D0505-578B-F772-13E8-FE4DE5FAE1F7}"/>
              </a:ext>
            </a:extLst>
          </p:cNvPr>
          <p:cNvSpPr>
            <a:spLocks noGrp="1"/>
          </p:cNvSpPr>
          <p:nvPr>
            <p:ph type="sldNum" sz="quarter" idx="10"/>
          </p:nvPr>
        </p:nvSpPr>
        <p:spPr>
          <a:prstGeom prst="rect">
            <a:avLst/>
          </a:prstGeom>
          <a:noFill/>
        </p:spPr>
        <p:txBody>
          <a:bodyPr/>
          <a:lstStyle/>
          <a:p>
            <a:fld id="{F9A66F2C-2A21-4328-9CE2-B12C558076A6}" type="slidenum">
              <a:rPr lang="en-US" smtClean="0"/>
              <a:pPr/>
              <a:t>12</a:t>
            </a:fld>
            <a:endParaRPr lang="en-US"/>
          </a:p>
        </p:txBody>
      </p:sp>
    </p:spTree>
    <p:extLst>
      <p:ext uri="{BB962C8B-B14F-4D97-AF65-F5344CB8AC3E}">
        <p14:creationId xmlns:p14="http://schemas.microsoft.com/office/powerpoint/2010/main" val="107874851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1864360" y="342900"/>
            <a:ext cx="7054850" cy="933450"/>
          </a:xfrm>
          <a:noFill/>
          <a:ln w="9525">
            <a:noFill/>
            <a:miter lim="800000"/>
            <a:headEnd/>
            <a:tailEnd/>
          </a:ln>
          <a:effectLst/>
        </p:spPr>
        <p:txBody>
          <a:bodyPr vert="horz" wrap="square" lIns="91440" tIns="45720" rIns="91440" bIns="45720" numCol="1" anchor="ctr" anchorCtr="0" compatLnSpc="1">
            <a:prstTxWarp prst="textNoShape">
              <a:avLst/>
            </a:prstTxWarp>
          </a:bodyPr>
          <a:lstStyle/>
          <a:p>
            <a:r>
              <a:rPr lang="en-US" sz="3200" i="1" dirty="0">
                <a:cs typeface="Times New Roman" pitchFamily="18" charset="0"/>
              </a:rPr>
              <a:t>Revision History</a:t>
            </a:r>
            <a:br>
              <a:rPr lang="en-US" sz="3200" i="1" dirty="0">
                <a:cs typeface="Times New Roman" pitchFamily="18" charset="0"/>
              </a:rPr>
            </a:br>
            <a:endParaRPr lang="en-US" sz="3200" i="1" dirty="0">
              <a:cs typeface="Times New Roman" pitchFamily="18" charset="0"/>
            </a:endParaRPr>
          </a:p>
        </p:txBody>
      </p:sp>
      <p:graphicFrame>
        <p:nvGraphicFramePr>
          <p:cNvPr id="7" name="Group 54"/>
          <p:cNvGraphicFramePr>
            <a:graphicFrameLocks noGrp="1"/>
          </p:cNvGraphicFramePr>
          <p:nvPr/>
        </p:nvGraphicFramePr>
        <p:xfrm>
          <a:off x="904974" y="1461155"/>
          <a:ext cx="7748833" cy="4411744"/>
        </p:xfrm>
        <a:graphic>
          <a:graphicData uri="http://schemas.openxmlformats.org/drawingml/2006/table">
            <a:tbl>
              <a:tblPr/>
              <a:tblGrid>
                <a:gridCol w="1272618">
                  <a:extLst>
                    <a:ext uri="{9D8B030D-6E8A-4147-A177-3AD203B41FA5}">
                      <a16:colId xmlns:a16="http://schemas.microsoft.com/office/drawing/2014/main" val="20000"/>
                    </a:ext>
                  </a:extLst>
                </a:gridCol>
                <a:gridCol w="6476215">
                  <a:extLst>
                    <a:ext uri="{9D8B030D-6E8A-4147-A177-3AD203B41FA5}">
                      <a16:colId xmlns:a16="http://schemas.microsoft.com/office/drawing/2014/main" val="20001"/>
                    </a:ext>
                  </a:extLst>
                </a:gridCol>
              </a:tblGrid>
              <a:tr h="418731">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200" b="0" i="0" u="none" strike="noStrike" cap="none" normalizeH="0" baseline="0" dirty="0" err="1">
                          <a:ln>
                            <a:noFill/>
                          </a:ln>
                          <a:solidFill>
                            <a:schemeClr val="tx1"/>
                          </a:solidFill>
                          <a:effectLst/>
                          <a:latin typeface="Times New Roman" pitchFamily="18" charset="0"/>
                        </a:rPr>
                        <a:t>Ver</a:t>
                      </a:r>
                      <a:r>
                        <a:rPr kumimoji="0" lang="en-US" sz="1200" b="0" i="0" u="none" strike="noStrike" cap="none" normalizeH="0" baseline="0" dirty="0">
                          <a:ln>
                            <a:noFill/>
                          </a:ln>
                          <a:solidFill>
                            <a:schemeClr val="tx1"/>
                          </a:solidFill>
                          <a:effectLst/>
                          <a:latin typeface="Times New Roman" pitchFamily="18" charset="0"/>
                        </a:rPr>
                        <a:t> / Date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Changes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29 Jul 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1200" b="0" i="0" u="none" strike="noStrike" cap="none" normalizeH="0" baseline="0" dirty="0">
                          <a:ln>
                            <a:noFill/>
                          </a:ln>
                          <a:solidFill>
                            <a:schemeClr val="tx1"/>
                          </a:solidFill>
                          <a:effectLst/>
                          <a:latin typeface="Times New Roman" pitchFamily="18" charset="0"/>
                        </a:rPr>
                        <a:t>Course objectives: Incorporated changes to objectives from CAP.</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1200" b="0" i="0" u="none" strike="noStrike" cap="none" normalizeH="0" baseline="0" dirty="0">
                          <a:ln>
                            <a:noFill/>
                          </a:ln>
                          <a:solidFill>
                            <a:schemeClr val="tx1"/>
                          </a:solidFill>
                          <a:effectLst/>
                          <a:latin typeface="Times New Roman" pitchFamily="18" charset="0"/>
                        </a:rPr>
                        <a:t>Previous course assessment: Changes from CAR.</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1200" b="0" i="0" u="none" strike="noStrike" cap="none" normalizeH="0" baseline="0" dirty="0">
                          <a:ln>
                            <a:noFill/>
                          </a:ln>
                          <a:solidFill>
                            <a:schemeClr val="tx1"/>
                          </a:solidFill>
                          <a:effectLst/>
                          <a:latin typeface="Times New Roman" pitchFamily="18" charset="0"/>
                        </a:rPr>
                        <a:t>PCO Assessment: Revised to reflect updated PCOs. </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1200" b="0" i="0" u="none" strike="noStrike" cap="none" normalizeH="0" baseline="0" dirty="0">
                          <a:ln>
                            <a:noFill/>
                          </a:ln>
                          <a:solidFill>
                            <a:schemeClr val="tx1"/>
                          </a:solidFill>
                          <a:effectLst/>
                          <a:latin typeface="Times New Roman" pitchFamily="18" charset="0"/>
                        </a:rPr>
                        <a:t>Prerequisites by Topic and Course: Reflects </a:t>
                      </a:r>
                      <a:r>
                        <a:rPr kumimoji="0" lang="en-US" sz="1200" b="0" i="0" u="none" strike="noStrike" cap="none" normalizeH="0" baseline="0" dirty="0" err="1">
                          <a:ln>
                            <a:noFill/>
                          </a:ln>
                          <a:solidFill>
                            <a:schemeClr val="tx1"/>
                          </a:solidFill>
                          <a:effectLst/>
                          <a:latin typeface="Times New Roman" pitchFamily="18" charset="0"/>
                        </a:rPr>
                        <a:t>Engr</a:t>
                      </a:r>
                      <a:r>
                        <a:rPr kumimoji="0" lang="en-US" sz="1200" b="0" i="0" u="none" strike="noStrike" cap="none" normalizeH="0" baseline="0" dirty="0">
                          <a:ln>
                            <a:noFill/>
                          </a:ln>
                          <a:solidFill>
                            <a:schemeClr val="tx1"/>
                          </a:solidFill>
                          <a:effectLst/>
                          <a:latin typeface="Times New Roman" pitchFamily="18" charset="0"/>
                        </a:rPr>
                        <a:t> 311 as additional topical requirement…will become formal course prerequisite for Sp12 semester. </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7324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3.1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19 Apr 06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Changed Slide 6 – PCO coverage.  Deleted the distinction between ABET and PCO as all PCO are mapped to ABET criterion 3 requirements in the assessment plan.   A yes is all that is required now</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Added slide 13 for to describe the modifications made because of the new </a:t>
                      </a:r>
                      <a:r>
                        <a:rPr kumimoji="0" lang="en-US" sz="1200" b="0" i="0" u="none" strike="noStrike" cap="none" normalizeH="0" baseline="0" dirty="0" err="1">
                          <a:ln>
                            <a:noFill/>
                          </a:ln>
                          <a:solidFill>
                            <a:schemeClr val="tx1"/>
                          </a:solidFill>
                          <a:effectLst/>
                          <a:latin typeface="Times New Roman" pitchFamily="18" charset="0"/>
                        </a:rPr>
                        <a:t>Sched</a:t>
                      </a:r>
                      <a:r>
                        <a:rPr kumimoji="0" lang="en-US" sz="1200" b="0" i="0" u="none" strike="noStrike" cap="none" normalizeH="0" baseline="0" dirty="0">
                          <a:ln>
                            <a:noFill/>
                          </a:ln>
                          <a:solidFill>
                            <a:schemeClr val="tx1"/>
                          </a:solidFill>
                          <a:effectLst/>
                          <a:latin typeface="Times New Roman" pitchFamily="18" charset="0"/>
                        </a:rPr>
                        <a:t> of Calls for AY 06-07 and beyond.  Purpose: describe syllabus changes made to accommodate 55 min lessons and a 40 lesson semesters.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Changed Slide 14: Added Coordinating courses/suspense line.  Included instructions for completing in the notes section.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 Changed Slide 15: Changed title – “Assessment of Solutions Implemented in”  Changed instructions to improved closure of assessment process.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58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3.0/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rPr>
                        <a:t>5 Jan 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200" b="0" i="0" u="none" strike="noStrike" cap="none" normalizeH="0" baseline="0" dirty="0">
                          <a:ln>
                            <a:noFill/>
                          </a:ln>
                          <a:solidFill>
                            <a:schemeClr val="tx1"/>
                          </a:solidFill>
                          <a:effectLst/>
                          <a:latin typeface="Times New Roman" pitchFamily="18" charset="0"/>
                        </a:rPr>
                        <a:t>-Start of revision history.  Combined slides 6 &amp; 7 into one slide 6.  Added Ethics to AF relevance on slide 10.  Clarified slides 13 &amp;14.  Slide 13 is proposed changes while slide 14 is assessment of previous change effectiveness.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theme/theme1.xml><?xml version="1.0" encoding="utf-8"?>
<a:theme xmlns:a="http://schemas.openxmlformats.org/drawingml/2006/main" name="USAFA Template">
  <a:themeElements>
    <a:clrScheme name="USAFA Standar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SAFA Standar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lnDef>
  </a:objectDefaults>
  <a:extraClrSchemeLst>
    <a:extraClrScheme>
      <a:clrScheme name="USAFA Standar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AFA 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AFA Standar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AFA Standar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AFA Standar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AFA Standar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AFA Standar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52D9541B337148AFDEAADDBA1019A9" ma:contentTypeVersion="33" ma:contentTypeDescription="Create a new document." ma:contentTypeScope="" ma:versionID="a653c0092fa56e9cdc95a578ec88e27b">
  <xsd:schema xmlns:xsd="http://www.w3.org/2001/XMLSchema" xmlns:xs="http://www.w3.org/2001/XMLSchema" xmlns:p="http://schemas.microsoft.com/office/2006/metadata/properties" xmlns:ns2="4edd4416-e28b-4da3-8b8b-94f4bf95d037" xmlns:ns3="8c3f0056-6d7c-4896-a136-f8e9177f404f" targetNamespace="http://schemas.microsoft.com/office/2006/metadata/properties" ma:root="true" ma:fieldsID="3b3838ac599f5f53bf3abd3aba95409e" ns2:_="" ns3:_="">
    <xsd:import namespace="4edd4416-e28b-4da3-8b8b-94f4bf95d037"/>
    <xsd:import namespace="8c3f0056-6d7c-4896-a136-f8e9177f404f"/>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dd4416-e28b-4da3-8b8b-94f4bf95d037"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AutoKeyPoints" ma:index="30" nillable="true" ma:displayName="MediaServiceAutoKeyPoints" ma:hidden="true" ma:internalName="MediaServiceAutoKeyPoints" ma:readOnly="true">
      <xsd:simpleType>
        <xsd:restriction base="dms:Note"/>
      </xsd:simpleType>
    </xsd:element>
    <xsd:element name="MediaServiceKeyPoints" ma:index="31" nillable="true" ma:displayName="KeyPoints" ma:internalName="MediaServiceKeyPoints" ma:readOnly="true">
      <xsd:simpleType>
        <xsd:restriction base="dms:Note">
          <xsd:maxLength value="255"/>
        </xsd:restriction>
      </xsd:simpleType>
    </xsd:element>
    <xsd:element name="MediaServiceDateTaken" ma:index="34" nillable="true" ma:displayName="MediaServiceDateTaken" ma:hidden="true" ma:internalName="MediaServiceDateTaken" ma:readOnly="true">
      <xsd:simpleType>
        <xsd:restriction base="dms:Text"/>
      </xsd:simpleType>
    </xsd:element>
    <xsd:element name="MediaServiceAutoTags" ma:index="35" nillable="true" ma:displayName="Tags" ma:internalName="MediaServiceAutoTags" ma:readOnly="true">
      <xsd:simpleType>
        <xsd:restriction base="dms:Text"/>
      </xsd:simpleType>
    </xsd:element>
    <xsd:element name="MediaServiceGenerationTime" ma:index="36" nillable="true" ma:displayName="MediaServiceGenerationTime" ma:hidden="true" ma:internalName="MediaServiceGenerationTime" ma:readOnly="true">
      <xsd:simpleType>
        <xsd:restriction base="dms:Text"/>
      </xsd:simpleType>
    </xsd:element>
    <xsd:element name="MediaServiceEventHashCode" ma:index="37" nillable="true" ma:displayName="MediaServiceEventHashCode" ma:hidden="true" ma:internalName="MediaServiceEventHashCode" ma:readOnly="true">
      <xsd:simpleType>
        <xsd:restriction base="dms:Text"/>
      </xsd:simpleType>
    </xsd:element>
    <xsd:element name="MediaServiceOCR" ma:index="38" nillable="true" ma:displayName="Extracted Text" ma:internalName="MediaServiceOCR" ma:readOnly="true">
      <xsd:simpleType>
        <xsd:restriction base="dms:Note">
          <xsd:maxLength value="255"/>
        </xsd:restriction>
      </xsd:simpleType>
    </xsd:element>
    <xsd:element name="MediaServiceLocation" ma:index="39" nillable="true" ma:displayName="Location" ma:internalName="MediaServiceLocation" ma:readOnly="true">
      <xsd:simpleType>
        <xsd:restriction base="dms:Text"/>
      </xsd:simpleType>
    </xsd:element>
    <xsd:element name="MediaLengthInSeconds" ma:index="4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c3f0056-6d7c-4896-a136-f8e9177f404f" elementFormDefault="qualified">
    <xsd:import namespace="http://schemas.microsoft.com/office/2006/documentManagement/types"/>
    <xsd:import namespace="http://schemas.microsoft.com/office/infopath/2007/PartnerControls"/>
    <xsd:element name="SharedWithUsers" ma:index="3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eamsChannelId xmlns="4edd4416-e28b-4da3-8b8b-94f4bf95d037" xsi:nil="true"/>
    <IsNotebookLocked xmlns="4edd4416-e28b-4da3-8b8b-94f4bf95d037" xsi:nil="true"/>
    <CultureName xmlns="4edd4416-e28b-4da3-8b8b-94f4bf95d037" xsi:nil="true"/>
    <Owner xmlns="4edd4416-e28b-4da3-8b8b-94f4bf95d037">
      <UserInfo>
        <DisplayName/>
        <AccountId xsi:nil="true"/>
        <AccountType/>
      </UserInfo>
    </Owner>
    <Distribution_Groups xmlns="4edd4416-e28b-4da3-8b8b-94f4bf95d037" xsi:nil="true"/>
    <Members xmlns="4edd4416-e28b-4da3-8b8b-94f4bf95d037">
      <UserInfo>
        <DisplayName/>
        <AccountId xsi:nil="true"/>
        <AccountType/>
      </UserInfo>
    </Members>
    <Is_Collaboration_Space_Locked xmlns="4edd4416-e28b-4da3-8b8b-94f4bf95d037" xsi:nil="true"/>
    <NotebookType xmlns="4edd4416-e28b-4da3-8b8b-94f4bf95d037" xsi:nil="true"/>
    <FolderType xmlns="4edd4416-e28b-4da3-8b8b-94f4bf95d037" xsi:nil="true"/>
    <Leaders xmlns="4edd4416-e28b-4da3-8b8b-94f4bf95d037">
      <UserInfo>
        <DisplayName/>
        <AccountId xsi:nil="true"/>
        <AccountType/>
      </UserInfo>
    </Leaders>
    <DefaultSectionNames xmlns="4edd4416-e28b-4da3-8b8b-94f4bf95d037" xsi:nil="true"/>
    <Member_Groups xmlns="4edd4416-e28b-4da3-8b8b-94f4bf95d037">
      <UserInfo>
        <DisplayName/>
        <AccountId xsi:nil="true"/>
        <AccountType/>
      </UserInfo>
    </Member_Groups>
    <Math_Settings xmlns="4edd4416-e28b-4da3-8b8b-94f4bf95d037" xsi:nil="true"/>
    <Templates xmlns="4edd4416-e28b-4da3-8b8b-94f4bf95d037" xsi:nil="true"/>
    <Self_Registration_Enabled xmlns="4edd4416-e28b-4da3-8b8b-94f4bf95d037" xsi:nil="true"/>
    <Invited_Members xmlns="4edd4416-e28b-4da3-8b8b-94f4bf95d037" xsi:nil="true"/>
    <AppVersion xmlns="4edd4416-e28b-4da3-8b8b-94f4bf95d037" xsi:nil="true"/>
    <LMS_Mappings xmlns="4edd4416-e28b-4da3-8b8b-94f4bf95d037" xsi:nil="true"/>
    <Invited_Leaders xmlns="4edd4416-e28b-4da3-8b8b-94f4bf95d037" xsi:nil="true"/>
    <Has_Leaders_Only_SectionGroup xmlns="4edd4416-e28b-4da3-8b8b-94f4bf95d03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4BCBD4-C1D9-4354-8247-6BF0117E35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dd4416-e28b-4da3-8b8b-94f4bf95d037"/>
    <ds:schemaRef ds:uri="8c3f0056-6d7c-4896-a136-f8e9177f40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6AC6EB1-08F2-48B0-87D0-AC54CC241DDA}">
  <ds:schemaRefs>
    <ds:schemaRef ds:uri="http://schemas.microsoft.com/office/2006/metadata/properties"/>
    <ds:schemaRef ds:uri="http://schemas.microsoft.com/office/infopath/2007/PartnerControls"/>
    <ds:schemaRef ds:uri="4edd4416-e28b-4da3-8b8b-94f4bf95d037"/>
  </ds:schemaRefs>
</ds:datastoreItem>
</file>

<file path=customXml/itemProps3.xml><?xml version="1.0" encoding="utf-8"?>
<ds:datastoreItem xmlns:ds="http://schemas.openxmlformats.org/officeDocument/2006/customXml" ds:itemID="{FD6DD9E4-A5CE-4C8B-AB92-D50DF1DD8A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USAFA Template</Template>
  <TotalTime>3452</TotalTime>
  <Words>1696</Words>
  <Application>Microsoft Office PowerPoint</Application>
  <PresentationFormat>On-screen Show (4:3)</PresentationFormat>
  <Paragraphs>199</Paragraphs>
  <Slides>13</Slides>
  <Notes>13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Century Schoolbook</vt:lpstr>
      <vt:lpstr>Times New Roman</vt:lpstr>
      <vt:lpstr>Wingdings</vt:lpstr>
      <vt:lpstr>USAFA Template</vt:lpstr>
      <vt:lpstr>ECE 343 Electromagnetics Course Brief</vt:lpstr>
      <vt:lpstr>PowerPoint Presentation</vt:lpstr>
      <vt:lpstr>Course Goals</vt:lpstr>
      <vt:lpstr>Course Objectives</vt:lpstr>
      <vt:lpstr>Prerequisites by Topic and Course </vt:lpstr>
      <vt:lpstr>Checklist Status </vt:lpstr>
      <vt:lpstr>Course Topics</vt:lpstr>
      <vt:lpstr>Grading</vt:lpstr>
      <vt:lpstr>PCO Assessment</vt:lpstr>
      <vt:lpstr>Previous Course Assessment</vt:lpstr>
      <vt:lpstr>Recommendations from Spring 2022 </vt:lpstr>
      <vt:lpstr>Recommendations from Spring 2023 </vt:lpstr>
      <vt:lpstr>Revision History </vt:lpstr>
    </vt:vector>
  </TitlesOfParts>
  <Company>USAFA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Administrative Information &lt;For directions on using this template, look at the notes below&gt;</dc:title>
  <dc:creator>Anne Clark</dc:creator>
  <cp:lastModifiedBy>Rogers, Neil G CIV USAF USAFA DF/DFEC</cp:lastModifiedBy>
  <cp:revision>61</cp:revision>
  <dcterms:created xsi:type="dcterms:W3CDTF">2010-07-21T15:35:31Z</dcterms:created>
  <dcterms:modified xsi:type="dcterms:W3CDTF">2024-12-20T21:59:57Z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0x0101003952D9541B337148AFDEAADDBA1019A9</vt:lpwstr>
  </property>
</Properties>
</file>